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0693400" cy="10693400"/>
  <p:notesSz cx="106934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0292" y="3832097"/>
            <a:ext cx="5722264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1581" y="804418"/>
            <a:ext cx="1035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Microsoft Sans Serif"/>
                <a:cs typeface="Microsoft Sans Serif"/>
              </a:rPr>
              <a:t>1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1725" y="2545460"/>
            <a:ext cx="2816860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latin typeface="Microsoft Sans Serif"/>
                <a:cs typeface="Microsoft Sans Serif"/>
              </a:rPr>
              <a:t>Caso</a:t>
            </a:r>
            <a:r>
              <a:rPr dirty="0" sz="2000" spc="-3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Portafolio</a:t>
            </a:r>
            <a:r>
              <a:rPr dirty="0" sz="2000" spc="-3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de</a:t>
            </a:r>
            <a:r>
              <a:rPr dirty="0" sz="2000" spc="-10">
                <a:latin typeface="Microsoft Sans Serif"/>
                <a:cs typeface="Microsoft Sans Serif"/>
              </a:rPr>
              <a:t> Título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81175" marR="5080" indent="-1769110">
              <a:lnSpc>
                <a:spcPct val="110000"/>
              </a:lnSpc>
              <a:spcBef>
                <a:spcPts val="100"/>
              </a:spcBef>
            </a:pPr>
            <a:r>
              <a:rPr dirty="0"/>
              <a:t>Sistema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/>
              <a:t>Visión</a:t>
            </a:r>
            <a:r>
              <a:rPr dirty="0" spc="-30"/>
              <a:t> </a:t>
            </a:r>
            <a:r>
              <a:rPr dirty="0" spc="-10"/>
              <a:t>Computacional R.E.G.O.V.A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1581" y="804418"/>
            <a:ext cx="1035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Microsoft Sans Serif"/>
                <a:cs typeface="Microsoft Sans Serif"/>
              </a:rPr>
              <a:t>2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588" y="1185417"/>
            <a:ext cx="5660390" cy="489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570" algn="l"/>
              </a:tabLst>
            </a:pPr>
            <a:r>
              <a:rPr dirty="0" sz="1200" spc="-25" b="1">
                <a:latin typeface="Arial"/>
                <a:cs typeface="Arial"/>
              </a:rPr>
              <a:t>1.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Contexto</a:t>
            </a:r>
            <a:endParaRPr sz="1200">
              <a:latin typeface="Arial"/>
              <a:cs typeface="Arial"/>
            </a:endParaRPr>
          </a:p>
          <a:p>
            <a:pPr algn="just" marL="369570" marR="9525">
              <a:lnSpc>
                <a:spcPct val="110300"/>
              </a:lnSpc>
              <a:spcBef>
                <a:spcPts val="1260"/>
              </a:spcBef>
            </a:pPr>
            <a:r>
              <a:rPr dirty="0" sz="1100">
                <a:latin typeface="Microsoft Sans Serif"/>
                <a:cs typeface="Microsoft Sans Serif"/>
              </a:rPr>
              <a:t>Walmart plantea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orientado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al </a:t>
            </a:r>
            <a:r>
              <a:rPr dirty="0" sz="1100">
                <a:latin typeface="Microsoft Sans Serif"/>
                <a:cs typeface="Microsoft Sans Serif"/>
              </a:rPr>
              <a:t>proceso de reposición 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góndolas.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necesidad 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centra 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analizar imágenes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obtenidas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</a:t>
            </a:r>
            <a:r>
              <a:rPr dirty="0" sz="1100" spc="-10">
                <a:latin typeface="Microsoft Sans Serif"/>
                <a:cs typeface="Microsoft Sans Serif"/>
              </a:rPr>
              <a:t>salas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venta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 </a:t>
            </a:r>
            <a:r>
              <a:rPr dirty="0" sz="1100" spc="-10">
                <a:latin typeface="Microsoft Sans Serif"/>
                <a:cs typeface="Microsoft Sans Serif"/>
              </a:rPr>
              <a:t>identificar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presencia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vacíos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magnitud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exhibición.</a:t>
            </a:r>
            <a:endParaRPr sz="1100">
              <a:latin typeface="Microsoft Sans Serif"/>
              <a:cs typeface="Microsoft Sans Serif"/>
            </a:endParaRPr>
          </a:p>
          <a:p>
            <a:pPr algn="just" marL="369570" marR="5080">
              <a:lnSpc>
                <a:spcPct val="110000"/>
              </a:lnSpc>
              <a:spcBef>
                <a:spcPts val="1215"/>
              </a:spcBef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dificultades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propias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entorno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supermercado.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Las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afectadas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ángulo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perspectiva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captura,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mientras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0">
                <a:latin typeface="Microsoft Sans Serif"/>
                <a:cs typeface="Microsoft Sans Serif"/>
              </a:rPr>
              <a:t> la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forma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los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encuentran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dispuestos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apilados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generar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2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visualmente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2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necesariamente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corresponden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zona </a:t>
            </a:r>
            <a:r>
              <a:rPr dirty="0" sz="1100">
                <a:latin typeface="Microsoft Sans Serif"/>
                <a:cs typeface="Microsoft Sans Serif"/>
              </a:rPr>
              <a:t>disponible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reposición.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razón,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requiere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diferenciar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asociado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ausencia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aquellos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originados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por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características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exhibición.</a:t>
            </a:r>
            <a:endParaRPr sz="1100">
              <a:latin typeface="Microsoft Sans Serif"/>
              <a:cs typeface="Microsoft Sans Serif"/>
            </a:endParaRPr>
          </a:p>
          <a:p>
            <a:pPr algn="just" marL="369570" marR="10795">
              <a:lnSpc>
                <a:spcPct val="110000"/>
              </a:lnSpc>
              <a:spcBef>
                <a:spcPts val="1215"/>
              </a:spcBef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objetivo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consiste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automatizada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cuánto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2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góndola,</a:t>
            </a:r>
            <a:r>
              <a:rPr dirty="0" sz="1100" spc="2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expresándolo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2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porcentual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o </a:t>
            </a:r>
            <a:r>
              <a:rPr dirty="0" sz="1100">
                <a:latin typeface="Microsoft Sans Serif"/>
                <a:cs typeface="Microsoft Sans Serif"/>
              </a:rPr>
              <a:t>volumétrica.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Adicionalmente,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pueda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diferenciada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nivel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repisa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física,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permitiendo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conocer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solo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existencia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vacío, </a:t>
            </a:r>
            <a:r>
              <a:rPr dirty="0" sz="1100">
                <a:latin typeface="Microsoft Sans Serif"/>
                <a:cs typeface="Microsoft Sans Serif"/>
              </a:rPr>
              <a:t>sino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también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ubicación dentro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góndola.</a:t>
            </a:r>
            <a:endParaRPr sz="1100">
              <a:latin typeface="Microsoft Sans Serif"/>
              <a:cs typeface="Microsoft Sans Serif"/>
            </a:endParaRPr>
          </a:p>
          <a:p>
            <a:pPr algn="just" marL="369570" marR="5080">
              <a:lnSpc>
                <a:spcPct val="110200"/>
              </a:lnSpc>
              <a:spcBef>
                <a:spcPts val="1210"/>
              </a:spcBef>
            </a:pP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desarrollo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evaluación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consideran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provenientes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entornos </a:t>
            </a:r>
            <a:r>
              <a:rPr dirty="0" sz="1100">
                <a:latin typeface="Microsoft Sans Serif"/>
                <a:cs typeface="Microsoft Sans Serif"/>
              </a:rPr>
              <a:t>reales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operación.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equipo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debe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definir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estrategia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técnica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propia,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no </a:t>
            </a:r>
            <a:r>
              <a:rPr dirty="0" sz="1100">
                <a:latin typeface="Microsoft Sans Serif"/>
                <a:cs typeface="Microsoft Sans Serif"/>
              </a:rPr>
              <a:t>se establece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 modelo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algoritmo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visión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específico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resolver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2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problema.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caso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segmentación</a:t>
            </a:r>
            <a:r>
              <a:rPr dirty="0" sz="1100" spc="2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cuantificación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completa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resulte demasiado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compleja,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</a:t>
            </a:r>
            <a:r>
              <a:rPr dirty="0" sz="1100" spc="-10">
                <a:latin typeface="Microsoft Sans Serif"/>
                <a:cs typeface="Microsoft Sans Serif"/>
              </a:rPr>
              <a:t> contempla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como alternativa inicial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determinar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existe </a:t>
            </a:r>
            <a:r>
              <a:rPr dirty="0" sz="1100">
                <a:latin typeface="Microsoft Sans Serif"/>
                <a:cs typeface="Microsoft Sans Serif"/>
              </a:rPr>
              <a:t>menos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30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%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disponibles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góndola.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1581" y="804418"/>
            <a:ext cx="1035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Microsoft Sans Serif"/>
                <a:cs typeface="Microsoft Sans Serif"/>
              </a:rPr>
              <a:t>3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588" y="984250"/>
            <a:ext cx="5661025" cy="5260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570" algn="l"/>
              </a:tabLst>
            </a:pPr>
            <a:r>
              <a:rPr dirty="0" sz="1200" spc="-25" b="1">
                <a:latin typeface="Arial"/>
                <a:cs typeface="Arial"/>
              </a:rPr>
              <a:t>2.</a:t>
            </a:r>
            <a:r>
              <a:rPr dirty="0" sz="1200" b="1">
                <a:latin typeface="Arial"/>
                <a:cs typeface="Arial"/>
              </a:rPr>
              <a:t>	Modelo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negocio</a:t>
            </a:r>
            <a:endParaRPr sz="1200">
              <a:latin typeface="Arial"/>
              <a:cs typeface="Arial"/>
            </a:endParaRPr>
          </a:p>
          <a:p>
            <a:pPr algn="just" marL="369570" marR="5080">
              <a:lnSpc>
                <a:spcPct val="110100"/>
              </a:lnSpc>
              <a:spcBef>
                <a:spcPts val="1260"/>
              </a:spcBef>
            </a:pPr>
            <a:r>
              <a:rPr dirty="0" sz="1100">
                <a:latin typeface="Microsoft Sans Serif"/>
                <a:cs typeface="Microsoft Sans Serif"/>
              </a:rPr>
              <a:t>REGOVA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apoyo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proceso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sala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3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3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automatizado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3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góndolas.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propósito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es </a:t>
            </a:r>
            <a:r>
              <a:rPr dirty="0" sz="1100">
                <a:latin typeface="Microsoft Sans Serif"/>
                <a:cs typeface="Microsoft Sans Serif"/>
              </a:rPr>
              <a:t>transformar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2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entorno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</a:t>
            </a:r>
            <a:r>
              <a:rPr dirty="0" sz="1100" spc="3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información </a:t>
            </a:r>
            <a:r>
              <a:rPr dirty="0" sz="1100">
                <a:latin typeface="Microsoft Sans Serif"/>
                <a:cs typeface="Microsoft Sans Serif"/>
              </a:rPr>
              <a:t>cuantificable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 localizada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disponibilidad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facilitando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sectores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requieren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atención.</a:t>
            </a:r>
            <a:endParaRPr sz="1100">
              <a:latin typeface="Microsoft Sans Serif"/>
              <a:cs typeface="Microsoft Sans Serif"/>
            </a:endParaRPr>
          </a:p>
          <a:p>
            <a:pPr algn="just" marL="369570" marR="6350">
              <a:lnSpc>
                <a:spcPct val="110300"/>
              </a:lnSpc>
              <a:spcBef>
                <a:spcPts val="1210"/>
              </a:spcBef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está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orientada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principalmente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entorno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tienda,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donde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generada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servir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apoyo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y </a:t>
            </a:r>
            <a:r>
              <a:rPr dirty="0" sz="1100">
                <a:latin typeface="Microsoft Sans Serif"/>
                <a:cs typeface="Microsoft Sans Serif"/>
              </a:rPr>
              <a:t>priorizar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zonas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disminución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disponibilidad.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manera,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REGOVA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reemplaza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proceso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sí </a:t>
            </a:r>
            <a:r>
              <a:rPr dirty="0" sz="1100">
                <a:latin typeface="Microsoft Sans Serif"/>
                <a:cs typeface="Microsoft Sans Serif"/>
              </a:rPr>
              <a:t>mismo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existencia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inventario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disponible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bodega,</a:t>
            </a:r>
            <a:r>
              <a:rPr dirty="0" sz="1100" spc="3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sino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proporciona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exhibición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apoyar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toma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decisiones.</a:t>
            </a:r>
            <a:endParaRPr sz="1100">
              <a:latin typeface="Microsoft Sans Serif"/>
              <a:cs typeface="Microsoft Sans Serif"/>
            </a:endParaRPr>
          </a:p>
          <a:p>
            <a:pPr algn="just" marL="369570" marR="6985">
              <a:lnSpc>
                <a:spcPct val="110200"/>
              </a:lnSpc>
              <a:spcBef>
                <a:spcPts val="1190"/>
              </a:spcBef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valor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basa</a:t>
            </a:r>
            <a:r>
              <a:rPr dirty="0" sz="1100" spc="1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tres</a:t>
            </a:r>
            <a:r>
              <a:rPr dirty="0" sz="1100" spc="1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elementos</a:t>
            </a:r>
            <a:r>
              <a:rPr dirty="0" sz="1100" spc="1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principales:</a:t>
            </a:r>
            <a:r>
              <a:rPr dirty="0" sz="1100" spc="2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localización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del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afectado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góndola,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estimación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magnitud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ausencia</a:t>
            </a:r>
            <a:r>
              <a:rPr dirty="0" sz="1100" spc="1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detectada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transformación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1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información </a:t>
            </a:r>
            <a:r>
              <a:rPr dirty="0" sz="1100">
                <a:latin typeface="Microsoft Sans Serif"/>
                <a:cs typeface="Microsoft Sans Serif"/>
              </a:rPr>
              <a:t>comprensible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usuario.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aproximación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superar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clasificación </a:t>
            </a:r>
            <a:r>
              <a:rPr dirty="0" sz="1100">
                <a:latin typeface="Microsoft Sans Serif"/>
                <a:cs typeface="Microsoft Sans Serif"/>
              </a:rPr>
              <a:t>limitada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vacío,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entregando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mayor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detalle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respecto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dónde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magnitud.</a:t>
            </a:r>
            <a:endParaRPr sz="1100">
              <a:latin typeface="Microsoft Sans Serif"/>
              <a:cs typeface="Microsoft Sans Serif"/>
            </a:endParaRPr>
          </a:p>
          <a:p>
            <a:pPr algn="just" marL="369570" marR="10795">
              <a:lnSpc>
                <a:spcPct val="110200"/>
              </a:lnSpc>
              <a:spcBef>
                <a:spcPts val="1210"/>
              </a:spcBef>
            </a:pPr>
            <a:r>
              <a:rPr dirty="0" sz="1100">
                <a:latin typeface="Microsoft Sans Serif"/>
                <a:cs typeface="Microsoft Sans Serif"/>
              </a:rPr>
              <a:t>A nivel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REGOVA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contribuir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identificación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más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focalizada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zonas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reduciendo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necesidad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interpretar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completa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única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unidad.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permite </a:t>
            </a:r>
            <a:r>
              <a:rPr dirty="0" sz="1100">
                <a:latin typeface="Microsoft Sans Serif"/>
                <a:cs typeface="Microsoft Sans Serif"/>
              </a:rPr>
              <a:t>organizar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según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→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→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Región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exhibición,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asociando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obtenidos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2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una </a:t>
            </a:r>
            <a:r>
              <a:rPr dirty="0" sz="1100">
                <a:latin typeface="Microsoft Sans Serif"/>
                <a:cs typeface="Microsoft Sans Serif"/>
              </a:rPr>
              <a:t>ubicación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específica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dicha </a:t>
            </a:r>
            <a:r>
              <a:rPr dirty="0" sz="1100" spc="-10">
                <a:latin typeface="Microsoft Sans Serif"/>
                <a:cs typeface="Microsoft Sans Serif"/>
              </a:rPr>
              <a:t>estructura.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1581" y="804418"/>
            <a:ext cx="1035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Microsoft Sans Serif"/>
                <a:cs typeface="Microsoft Sans Serif"/>
              </a:rPr>
              <a:t>4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84250"/>
            <a:ext cx="5761355" cy="2360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35687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Definición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problema</a:t>
            </a:r>
            <a:endParaRPr sz="1200">
              <a:latin typeface="Arial"/>
              <a:cs typeface="Arial"/>
            </a:endParaRPr>
          </a:p>
          <a:p>
            <a:pPr algn="just" marL="469900" marR="5080">
              <a:lnSpc>
                <a:spcPct val="110200"/>
              </a:lnSpc>
              <a:spcBef>
                <a:spcPts val="1260"/>
              </a:spcBef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automatizada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limita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identificar </a:t>
            </a:r>
            <a:r>
              <a:rPr dirty="0" sz="1100">
                <a:latin typeface="Microsoft Sans Serif"/>
                <a:cs typeface="Microsoft Sans Serif"/>
              </a:rPr>
              <a:t>zonas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imagen.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entorno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supermercado,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interpretación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depende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tanto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condiciones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como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disposición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productos.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desafío </a:t>
            </a:r>
            <a:r>
              <a:rPr dirty="0" sz="1100">
                <a:latin typeface="Microsoft Sans Serif"/>
                <a:cs typeface="Microsoft Sans Serif"/>
              </a:rPr>
              <a:t>requiere,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además,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magnitud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y,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posible,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asociarlo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repisa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específica.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Microsoft Sans Serif"/>
                <a:cs typeface="Microsoft Sans Serif"/>
              </a:rPr>
              <a:t>A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partir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del</a:t>
            </a:r>
            <a:r>
              <a:rPr dirty="0" sz="1200" spc="15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análisis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del</a:t>
            </a:r>
            <a:r>
              <a:rPr dirty="0" sz="1200" spc="1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desafío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se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identifican</a:t>
            </a:r>
            <a:r>
              <a:rPr dirty="0" sz="1200" spc="14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los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siguientes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problemas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principales: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lvl="1" marL="927100" indent="-48133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200" b="1">
                <a:latin typeface="Arial"/>
                <a:cs typeface="Arial"/>
              </a:rPr>
              <a:t>Problemas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principales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535" y="3850385"/>
            <a:ext cx="5299710" cy="19773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dirty="0" sz="1100" spc="-10" b="1">
                <a:latin typeface="Arial"/>
                <a:cs typeface="Arial"/>
              </a:rPr>
              <a:t>3.1.1.</a:t>
            </a:r>
            <a:r>
              <a:rPr dirty="0" sz="1100" b="1">
                <a:latin typeface="Arial"/>
                <a:cs typeface="Arial"/>
              </a:rPr>
              <a:t>	</a:t>
            </a:r>
            <a:r>
              <a:rPr dirty="0" sz="1100" spc="-10" b="1">
                <a:latin typeface="Arial"/>
                <a:cs typeface="Arial"/>
              </a:rPr>
              <a:t>Condiciones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reales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captura</a:t>
            </a: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10500"/>
              </a:lnSpc>
              <a:spcBef>
                <a:spcPts val="1210"/>
              </a:spcBef>
            </a:pP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utilizadas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corresponden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entornos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reales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sala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venta,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perspectiva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desde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góndola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modificar </a:t>
            </a:r>
            <a:r>
              <a:rPr dirty="0" sz="1100">
                <a:latin typeface="Microsoft Sans Serif"/>
                <a:cs typeface="Microsoft Sans Serif"/>
              </a:rPr>
              <a:t>visualmente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proporciones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sus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diferentes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sectores.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particular,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ángulo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captura</a:t>
            </a:r>
            <a:r>
              <a:rPr dirty="0" sz="1100" spc="3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representa</a:t>
            </a:r>
            <a:r>
              <a:rPr dirty="0" sz="1100" spc="3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3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dificultad</a:t>
            </a:r>
            <a:r>
              <a:rPr dirty="0" sz="1100" spc="3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3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correctamente</a:t>
            </a:r>
            <a:r>
              <a:rPr dirty="0" sz="1100" spc="3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3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ubicación</a:t>
            </a:r>
            <a:r>
              <a:rPr dirty="0" sz="1100" spc="34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y </a:t>
            </a:r>
            <a:r>
              <a:rPr dirty="0" sz="1100">
                <a:latin typeface="Microsoft Sans Serif"/>
                <a:cs typeface="Microsoft Sans Serif"/>
              </a:rPr>
              <a:t>dimensión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observados.</a:t>
            </a:r>
            <a:endParaRPr sz="1100">
              <a:latin typeface="Microsoft Sans Serif"/>
              <a:cs typeface="Microsoft Sans Serif"/>
            </a:endParaRPr>
          </a:p>
          <a:p>
            <a:pPr algn="just" marL="12700" marR="7620">
              <a:lnSpc>
                <a:spcPct val="110000"/>
              </a:lnSpc>
              <a:spcBef>
                <a:spcPts val="1185"/>
              </a:spcBef>
            </a:pP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razón,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debe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considerar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etapa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preparación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imagen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3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permita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trabajar</a:t>
            </a:r>
            <a:r>
              <a:rPr dirty="0" sz="1100" spc="3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estas</a:t>
            </a:r>
            <a:r>
              <a:rPr dirty="0" sz="1100" spc="3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variaciones</a:t>
            </a:r>
            <a:r>
              <a:rPr dirty="0" sz="1100" spc="3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antes</a:t>
            </a:r>
            <a:r>
              <a:rPr dirty="0" sz="1100" spc="3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realizar</a:t>
            </a:r>
            <a:r>
              <a:rPr dirty="0" sz="1100" spc="3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35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disponibilidad.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535" y="6307581"/>
            <a:ext cx="5304155" cy="1794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dirty="0" sz="1100" spc="-10" b="1">
                <a:latin typeface="Arial"/>
                <a:cs typeface="Arial"/>
              </a:rPr>
              <a:t>3.1.2.</a:t>
            </a:r>
            <a:r>
              <a:rPr dirty="0" sz="1100" b="1">
                <a:latin typeface="Arial"/>
                <a:cs typeface="Arial"/>
              </a:rPr>
              <a:t>	Espacio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vacío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y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espacio</a:t>
            </a:r>
            <a:r>
              <a:rPr dirty="0" sz="1100" spc="-10" b="1">
                <a:latin typeface="Arial"/>
                <a:cs typeface="Arial"/>
              </a:rPr>
              <a:t> utilizable</a:t>
            </a: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10500"/>
              </a:lnSpc>
              <a:spcBef>
                <a:spcPts val="1205"/>
              </a:spcBef>
            </a:pP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visualmente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representa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necesariamente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ausencia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 </a:t>
            </a:r>
            <a:r>
              <a:rPr dirty="0" sz="1100">
                <a:latin typeface="Microsoft Sans Serif"/>
                <a:cs typeface="Microsoft Sans Serif"/>
              </a:rPr>
              <a:t>requiera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reposición.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forma,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dimensiones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disposición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determinados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productos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impedir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físicamente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ocupar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ciertas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zonas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repisa,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generando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espacios </a:t>
            </a:r>
            <a:r>
              <a:rPr dirty="0" sz="1100">
                <a:latin typeface="Microsoft Sans Serif"/>
                <a:cs typeface="Microsoft Sans Serif"/>
              </a:rPr>
              <a:t>visibles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forman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parte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normal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exhibición.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condición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constituye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uno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técnicos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señalados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Walmart.</a:t>
            </a:r>
            <a:endParaRPr sz="1100">
              <a:latin typeface="Microsoft Sans Serif"/>
              <a:cs typeface="Microsoft Sans Serif"/>
            </a:endParaRPr>
          </a:p>
          <a:p>
            <a:pPr algn="just" marL="12700" marR="12065">
              <a:lnSpc>
                <a:spcPct val="110900"/>
              </a:lnSpc>
              <a:spcBef>
                <a:spcPts val="1175"/>
              </a:spcBef>
            </a:pP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consecuencia,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debe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evitar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interpretar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automáticamente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toda</a:t>
            </a:r>
            <a:r>
              <a:rPr dirty="0" sz="1100" spc="-10">
                <a:latin typeface="Microsoft Sans Serif"/>
                <a:cs typeface="Microsoft Sans Serif"/>
              </a:rPr>
              <a:t> superficie </a:t>
            </a:r>
            <a:r>
              <a:rPr dirty="0" sz="1100">
                <a:latin typeface="Microsoft Sans Serif"/>
                <a:cs typeface="Microsoft Sans Serif"/>
              </a:rPr>
              <a:t>visible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quiebre 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ausencia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producto.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9535" y="8578977"/>
            <a:ext cx="5298440" cy="904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dirty="0" sz="1100" spc="-10" b="1">
                <a:latin typeface="Arial"/>
                <a:cs typeface="Arial"/>
              </a:rPr>
              <a:t>3.1.3.</a:t>
            </a:r>
            <a:r>
              <a:rPr dirty="0" sz="1100" b="1">
                <a:latin typeface="Arial"/>
                <a:cs typeface="Arial"/>
              </a:rPr>
              <a:t>	Limitación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una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clasificación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binaria</a:t>
            </a: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10000"/>
              </a:lnSpc>
              <a:spcBef>
                <a:spcPts val="1240"/>
              </a:spcBef>
            </a:pP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3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únicamente</a:t>
            </a:r>
            <a:r>
              <a:rPr dirty="0" sz="1100" spc="3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3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3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</a:t>
            </a:r>
            <a:r>
              <a:rPr dirty="0" sz="1100" spc="3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3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3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3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entrega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limitada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apoyar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reposición.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conocer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también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magnitud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porcentual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volumétrica,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535" y="786739"/>
            <a:ext cx="5305425" cy="11049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5214620">
              <a:lnSpc>
                <a:spcPct val="100000"/>
              </a:lnSpc>
              <a:spcBef>
                <a:spcPts val="240"/>
              </a:spcBef>
            </a:pPr>
            <a:r>
              <a:rPr dirty="0" sz="1100" spc="-50">
                <a:latin typeface="Microsoft Sans Serif"/>
                <a:cs typeface="Microsoft Sans Serif"/>
              </a:rPr>
              <a:t>5</a:t>
            </a:r>
            <a:endParaRPr sz="1100">
              <a:latin typeface="Microsoft Sans Serif"/>
              <a:cs typeface="Microsoft Sans Serif"/>
            </a:endParaRPr>
          </a:p>
          <a:p>
            <a:pPr marL="12700" marR="15875">
              <a:lnSpc>
                <a:spcPct val="109100"/>
              </a:lnSpc>
              <a:spcBef>
                <a:spcPts val="25"/>
              </a:spcBef>
            </a:pPr>
            <a:r>
              <a:rPr dirty="0" sz="1100">
                <a:latin typeface="Microsoft Sans Serif"/>
                <a:cs typeface="Microsoft Sans Serif"/>
              </a:rPr>
              <a:t>implica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avanzar desde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binaria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hacia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evaluación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cuantitativa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disponibilidad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observable.</a:t>
            </a:r>
            <a:endParaRPr sz="1100">
              <a:latin typeface="Microsoft Sans Serif"/>
              <a:cs typeface="Microsoft Sans Serif"/>
            </a:endParaRPr>
          </a:p>
          <a:p>
            <a:pPr marL="12700" marR="12065">
              <a:lnSpc>
                <a:spcPct val="110900"/>
              </a:lnSpc>
              <a:spcBef>
                <a:spcPts val="1205"/>
              </a:spcBef>
              <a:tabLst>
                <a:tab pos="435609" algn="l"/>
                <a:tab pos="1242060" algn="l"/>
                <a:tab pos="1851025" algn="l"/>
                <a:tab pos="2706370" algn="l"/>
                <a:tab pos="3361054" algn="l"/>
                <a:tab pos="3927475" algn="l"/>
                <a:tab pos="4225925" algn="l"/>
                <a:tab pos="5214620" algn="l"/>
              </a:tabLst>
            </a:pPr>
            <a:r>
              <a:rPr dirty="0" sz="1100" spc="-20">
                <a:latin typeface="Microsoft Sans Serif"/>
                <a:cs typeface="Microsoft Sans Serif"/>
              </a:rPr>
              <a:t>Esta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10">
                <a:latin typeface="Microsoft Sans Serif"/>
                <a:cs typeface="Microsoft Sans Serif"/>
              </a:rPr>
              <a:t>estimación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10">
                <a:latin typeface="Microsoft Sans Serif"/>
                <a:cs typeface="Microsoft Sans Serif"/>
              </a:rPr>
              <a:t>permite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10">
                <a:latin typeface="Microsoft Sans Serif"/>
                <a:cs typeface="Microsoft Sans Serif"/>
              </a:rPr>
              <a:t>representar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10">
                <a:latin typeface="Microsoft Sans Serif"/>
                <a:cs typeface="Microsoft Sans Serif"/>
              </a:rPr>
              <a:t>distintos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10">
                <a:latin typeface="Microsoft Sans Serif"/>
                <a:cs typeface="Microsoft Sans Serif"/>
              </a:rPr>
              <a:t>grados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25">
                <a:latin typeface="Microsoft Sans Serif"/>
                <a:cs typeface="Microsoft Sans Serif"/>
              </a:rPr>
              <a:t>de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>
                <a:latin typeface="Microsoft Sans Serif"/>
                <a:cs typeface="Microsoft Sans Serif"/>
              </a:rPr>
              <a:t>	</a:t>
            </a:r>
            <a:r>
              <a:rPr dirty="0" sz="1100" spc="-50">
                <a:latin typeface="Microsoft Sans Serif"/>
                <a:cs typeface="Microsoft Sans Serif"/>
              </a:rPr>
              <a:t>y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asociarlos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criterios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configurables.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535" y="2368422"/>
            <a:ext cx="5300980" cy="2163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dirty="0" sz="1100" spc="-10" b="1">
                <a:latin typeface="Arial"/>
                <a:cs typeface="Arial"/>
              </a:rPr>
              <a:t>3.1.4.</a:t>
            </a:r>
            <a:r>
              <a:rPr dirty="0" sz="1100" b="1">
                <a:latin typeface="Arial"/>
                <a:cs typeface="Arial"/>
              </a:rPr>
              <a:t>	Localización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problema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dentro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góndola</a:t>
            </a: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10300"/>
              </a:lnSpc>
              <a:spcBef>
                <a:spcPts val="1215"/>
              </a:spcBef>
            </a:pP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estimación </a:t>
            </a:r>
            <a:r>
              <a:rPr dirty="0" sz="1100">
                <a:latin typeface="Microsoft Sans Serif"/>
                <a:cs typeface="Microsoft Sans Serif"/>
              </a:rPr>
              <a:t>general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góndola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10">
                <a:latin typeface="Microsoft Sans Serif"/>
                <a:cs typeface="Microsoft Sans Serif"/>
              </a:rPr>
              <a:t> ocultar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diferencias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importantes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sus </a:t>
            </a:r>
            <a:r>
              <a:rPr dirty="0" sz="1100">
                <a:latin typeface="Microsoft Sans Serif"/>
                <a:cs typeface="Microsoft Sans Serif"/>
              </a:rPr>
              <a:t>distintos</a:t>
            </a:r>
            <a:r>
              <a:rPr dirty="0" sz="1100" spc="1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niveles.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Walmart</a:t>
            </a:r>
            <a:r>
              <a:rPr dirty="0" sz="1100" spc="2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2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deseable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disponer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4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métricas </a:t>
            </a:r>
            <a:r>
              <a:rPr dirty="0" sz="1100">
                <a:latin typeface="Microsoft Sans Serif"/>
                <a:cs typeface="Microsoft Sans Serif"/>
              </a:rPr>
              <a:t>diferenciadas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repisa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física,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permitiendo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conocer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dónde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el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detectado.</a:t>
            </a:r>
            <a:endParaRPr sz="1100">
              <a:latin typeface="Microsoft Sans Serif"/>
              <a:cs typeface="Microsoft Sans Serif"/>
            </a:endParaRPr>
          </a:p>
          <a:p>
            <a:pPr algn="just" marL="12700" marR="7620">
              <a:lnSpc>
                <a:spcPct val="110100"/>
              </a:lnSpc>
              <a:spcBef>
                <a:spcPts val="1210"/>
              </a:spcBef>
            </a:pP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abordar</a:t>
            </a:r>
            <a:r>
              <a:rPr dirty="0" sz="1100" spc="2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necesidad,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2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proyecto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organización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jerárquica </a:t>
            </a:r>
            <a:r>
              <a:rPr dirty="0" sz="1100">
                <a:latin typeface="Microsoft Sans Serif"/>
                <a:cs typeface="Microsoft Sans Serif"/>
              </a:rPr>
              <a:t>compuesta</a:t>
            </a:r>
            <a:r>
              <a:rPr dirty="0" sz="1100" spc="1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góndolas,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estantes</a:t>
            </a:r>
            <a:r>
              <a:rPr dirty="0" sz="1100" spc="1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exhibición.</a:t>
            </a:r>
            <a:r>
              <a:rPr dirty="0" sz="1100" spc="1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manera,</a:t>
            </a:r>
            <a:r>
              <a:rPr dirty="0" sz="1100" spc="18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las </a:t>
            </a:r>
            <a:r>
              <a:rPr dirty="0" sz="1100">
                <a:latin typeface="Microsoft Sans Serif"/>
                <a:cs typeface="Microsoft Sans Serif"/>
              </a:rPr>
              <a:t>estimaciones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obtenidas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pueden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asociarse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sectores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específicos</a:t>
            </a:r>
            <a:r>
              <a:rPr dirty="0" sz="1100" spc="25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góndola,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permitiendo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localizar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mayor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precisión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-10">
                <a:latin typeface="Microsoft Sans Serif"/>
                <a:cs typeface="Microsoft Sans Serif"/>
              </a:rPr>
              <a:t> detectado.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9535" y="5011927"/>
            <a:ext cx="5304155" cy="2163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7345">
              <a:lnSpc>
                <a:spcPct val="100000"/>
              </a:lnSpc>
              <a:spcBef>
                <a:spcPts val="105"/>
              </a:spcBef>
              <a:tabLst>
                <a:tab pos="927100" algn="l"/>
              </a:tabLst>
            </a:pPr>
            <a:r>
              <a:rPr dirty="0" sz="1100" spc="-10" b="1">
                <a:latin typeface="Arial"/>
                <a:cs typeface="Arial"/>
              </a:rPr>
              <a:t>3.1.5.</a:t>
            </a:r>
            <a:r>
              <a:rPr dirty="0" sz="1100" b="1">
                <a:latin typeface="Arial"/>
                <a:cs typeface="Arial"/>
              </a:rPr>
              <a:t>	Interpretación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operacional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los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resultados</a:t>
            </a:r>
            <a:endParaRPr sz="1100">
              <a:latin typeface="Arial"/>
              <a:cs typeface="Arial"/>
            </a:endParaRPr>
          </a:p>
          <a:p>
            <a:pPr algn="just" marL="12700" marR="6985">
              <a:lnSpc>
                <a:spcPct val="110300"/>
              </a:lnSpc>
              <a:spcBef>
                <a:spcPts val="1205"/>
              </a:spcBef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producido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modelo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constituye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sí </a:t>
            </a:r>
            <a:r>
              <a:rPr dirty="0" sz="1100">
                <a:latin typeface="Microsoft Sans Serif"/>
                <a:cs typeface="Microsoft Sans Serif"/>
              </a:rPr>
              <a:t>mismo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instrucción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reposición.</a:t>
            </a:r>
            <a:r>
              <a:rPr dirty="0" sz="1100" spc="1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debe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interpretada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criterio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</a:t>
            </a:r>
            <a:r>
              <a:rPr dirty="0" sz="1100" spc="1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permita</a:t>
            </a:r>
            <a:r>
              <a:rPr dirty="0" sz="1100" spc="1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distinguir</a:t>
            </a:r>
            <a:r>
              <a:rPr dirty="0" sz="1100" spc="1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aquellas</a:t>
            </a:r>
            <a:r>
              <a:rPr dirty="0" sz="1100" spc="2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1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se </a:t>
            </a:r>
            <a:r>
              <a:rPr dirty="0" sz="1100">
                <a:latin typeface="Microsoft Sans Serif"/>
                <a:cs typeface="Microsoft Sans Serif"/>
              </a:rPr>
              <a:t>encuentran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condiciones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normales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aquellas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atención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revisión.</a:t>
            </a:r>
            <a:endParaRPr sz="1100">
              <a:latin typeface="Microsoft Sans Serif"/>
              <a:cs typeface="Microsoft Sans Serif"/>
            </a:endParaRPr>
          </a:p>
          <a:p>
            <a:pPr algn="just" marL="12700" marR="5080">
              <a:lnSpc>
                <a:spcPct val="110000"/>
              </a:lnSpc>
              <a:spcBef>
                <a:spcPts val="1215"/>
              </a:spcBef>
            </a:pP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motivo,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propone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mantener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separada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generada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mediante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 posterior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clasificación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valores</a:t>
            </a:r>
            <a:r>
              <a:rPr dirty="0" sz="1100" spc="-10">
                <a:latin typeface="Microsoft Sans Serif"/>
                <a:cs typeface="Microsoft Sans Serif"/>
              </a:rPr>
              <a:t> obtenidos </a:t>
            </a:r>
            <a:r>
              <a:rPr dirty="0" sz="1100">
                <a:latin typeface="Microsoft Sans Serif"/>
                <a:cs typeface="Microsoft Sans Serif"/>
              </a:rPr>
              <a:t>podrán</a:t>
            </a:r>
            <a:r>
              <a:rPr dirty="0" sz="1100" spc="2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asociarse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estados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configurables,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permitiendo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modificar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2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criterios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clasificación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requerir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cambios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directos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modelo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7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computacional.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separación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ya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forma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la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arquitectura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conceptual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definida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proyecto.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2588" y="793762"/>
            <a:ext cx="5662930" cy="65214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85"/>
              </a:spcBef>
            </a:pPr>
            <a:r>
              <a:rPr dirty="0" sz="1100" spc="-50">
                <a:latin typeface="Microsoft Sans Serif"/>
                <a:cs typeface="Microsoft Sans Serif"/>
              </a:rPr>
              <a:t>6</a:t>
            </a:r>
            <a:endParaRPr sz="1100">
              <a:latin typeface="Microsoft Sans Serif"/>
              <a:cs typeface="Microsoft Sans Serif"/>
            </a:endParaRPr>
          </a:p>
          <a:p>
            <a:pPr marL="369570" marR="10160" indent="-357505">
              <a:lnSpc>
                <a:spcPts val="1580"/>
              </a:lnSpc>
              <a:spcBef>
                <a:spcPts val="30"/>
              </a:spcBef>
              <a:tabLst>
                <a:tab pos="369570" algn="l"/>
              </a:tabLst>
            </a:pPr>
            <a:r>
              <a:rPr dirty="0" sz="1200" spc="-25" b="1">
                <a:latin typeface="Arial"/>
                <a:cs typeface="Arial"/>
              </a:rPr>
              <a:t>4.</a:t>
            </a:r>
            <a:r>
              <a:rPr dirty="0" sz="1200" b="1">
                <a:latin typeface="Arial"/>
                <a:cs typeface="Arial"/>
              </a:rPr>
              <a:t>	Análisis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del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panorama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competitivo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soluciones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visión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artificial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en </a:t>
            </a:r>
            <a:r>
              <a:rPr dirty="0" sz="1200" spc="-10" b="1">
                <a:latin typeface="Arial"/>
                <a:cs typeface="Arial"/>
              </a:rPr>
              <a:t>retail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>
              <a:latin typeface="Arial"/>
              <a:cs typeface="Arial"/>
            </a:endParaRPr>
          </a:p>
          <a:p>
            <a:pPr algn="just" marL="369570" marR="12700">
              <a:lnSpc>
                <a:spcPct val="1100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disponibilidad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aspecto</a:t>
            </a:r>
            <a:r>
              <a:rPr dirty="0" sz="1100" spc="1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</a:t>
            </a:r>
            <a:r>
              <a:rPr dirty="0" sz="1100" spc="1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6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operación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3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supermercado,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ya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2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</a:t>
            </a:r>
            <a:r>
              <a:rPr dirty="0" sz="1100" spc="3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representar</a:t>
            </a:r>
            <a:r>
              <a:rPr dirty="0" sz="1100" spc="29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necesidad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productos.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embargo,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estas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situaciones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forma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automática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dificultades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cuando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2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29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condiciones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tienda.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algn="just" marL="369570" marR="10160">
              <a:lnSpc>
                <a:spcPct val="110500"/>
              </a:lnSpc>
            </a:pP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planteado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por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Walmart,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problema</a:t>
            </a:r>
            <a:r>
              <a:rPr dirty="0" sz="1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radica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</a:t>
            </a:r>
            <a:r>
              <a:rPr dirty="0" sz="1100" spc="-10">
                <a:latin typeface="Microsoft Sans Serif"/>
                <a:cs typeface="Microsoft Sans Serif"/>
              </a:rPr>
              <a:t>identificar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espacios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vacíos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técnicas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computacional,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considerando</a:t>
            </a:r>
            <a:r>
              <a:rPr dirty="0" sz="1100" spc="9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factores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ángulo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cámaras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disposición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productos.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Además,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2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cuánto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2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</a:t>
            </a:r>
            <a:r>
              <a:rPr dirty="0" sz="1100" spc="2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y,</a:t>
            </a:r>
            <a:r>
              <a:rPr dirty="0" sz="1100" spc="2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1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posible,</a:t>
            </a:r>
            <a:r>
              <a:rPr dirty="0" sz="1100" spc="2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entregar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esta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segmentada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góndola.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algn="just" marL="369570" marR="12700">
              <a:lnSpc>
                <a:spcPct val="110000"/>
              </a:lnSpc>
            </a:pP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229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necesidad,</a:t>
            </a:r>
            <a:r>
              <a:rPr dirty="0" sz="1100" spc="229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realizó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revisión</a:t>
            </a:r>
            <a:r>
              <a:rPr dirty="0" sz="1100" spc="229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2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comerciales</a:t>
            </a:r>
            <a:r>
              <a:rPr dirty="0" sz="1100" spc="250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y </a:t>
            </a:r>
            <a:r>
              <a:rPr dirty="0" sz="1100">
                <a:latin typeface="Microsoft Sans Serif"/>
                <a:cs typeface="Microsoft Sans Serif"/>
              </a:rPr>
              <a:t>propuestas</a:t>
            </a:r>
            <a:r>
              <a:rPr dirty="0" sz="1100" spc="3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tecnológicas</a:t>
            </a:r>
            <a:r>
              <a:rPr dirty="0" sz="1100" spc="3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3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abordan</a:t>
            </a:r>
            <a:r>
              <a:rPr dirty="0" sz="1100" spc="3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problemas</a:t>
            </a:r>
            <a:r>
              <a:rPr dirty="0" sz="1100" spc="3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similares</a:t>
            </a:r>
            <a:r>
              <a:rPr dirty="0" sz="1100" spc="3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3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3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retail.</a:t>
            </a:r>
            <a:r>
              <a:rPr dirty="0" sz="1100" spc="38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El </a:t>
            </a:r>
            <a:r>
              <a:rPr dirty="0" sz="1100">
                <a:latin typeface="Microsoft Sans Serif"/>
                <a:cs typeface="Microsoft Sans Serif"/>
              </a:rPr>
              <a:t>propósito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comparación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conocer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enfoques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utilizados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actualmente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para </a:t>
            </a:r>
            <a:r>
              <a:rPr dirty="0" sz="1100">
                <a:latin typeface="Microsoft Sans Serif"/>
                <a:cs typeface="Microsoft Sans Serif"/>
              </a:rPr>
              <a:t>monitorear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góndolas,</a:t>
            </a:r>
            <a:r>
              <a:rPr dirty="0" sz="1100" spc="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quiebres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stock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transformar</a:t>
            </a:r>
            <a:r>
              <a:rPr dirty="0" sz="1100" spc="9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información visual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datos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 puedan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reposición.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Microsoft Sans Serif"/>
              <a:cs typeface="Microsoft Sans Serif"/>
            </a:endParaRPr>
          </a:p>
          <a:p>
            <a:pPr algn="just" marL="369570" marR="8255">
              <a:lnSpc>
                <a:spcPct val="110200"/>
              </a:lnSpc>
            </a:pP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homologación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seleccionaron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distintos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enfoques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captura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procesamiento,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desde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basados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cámaras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hasta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plataformas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utilizan </a:t>
            </a:r>
            <a:r>
              <a:rPr dirty="0" sz="1100">
                <a:latin typeface="Microsoft Sans Serif"/>
                <a:cs typeface="Microsoft Sans Serif"/>
              </a:rPr>
              <a:t>robots</a:t>
            </a:r>
            <a:r>
              <a:rPr dirty="0" sz="1100" spc="120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25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sensores</a:t>
            </a:r>
            <a:r>
              <a:rPr dirty="0" sz="1100" spc="120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adicionales.</a:t>
            </a:r>
            <a:r>
              <a:rPr dirty="0" sz="1100" spc="114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30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comparación</a:t>
            </a:r>
            <a:r>
              <a:rPr dirty="0" sz="1100" spc="130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considera</a:t>
            </a:r>
            <a:r>
              <a:rPr dirty="0" sz="1100" spc="120">
                <a:latin typeface="Microsoft Sans Serif"/>
                <a:cs typeface="Microsoft Sans Serif"/>
              </a:rPr>
              <a:t>  </a:t>
            </a:r>
            <a:r>
              <a:rPr dirty="0" sz="1100">
                <a:latin typeface="Microsoft Sans Serif"/>
                <a:cs typeface="Microsoft Sans Serif"/>
              </a:rPr>
              <a:t>principalmente</a:t>
            </a:r>
            <a:r>
              <a:rPr dirty="0" sz="1100" spc="130">
                <a:latin typeface="Microsoft Sans Serif"/>
                <a:cs typeface="Microsoft Sans Serif"/>
              </a:rPr>
              <a:t>  </a:t>
            </a:r>
            <a:r>
              <a:rPr dirty="0" sz="1100" spc="-25">
                <a:latin typeface="Microsoft Sans Serif"/>
                <a:cs typeface="Microsoft Sans Serif"/>
              </a:rPr>
              <a:t>su </a:t>
            </a:r>
            <a:r>
              <a:rPr dirty="0" sz="1100">
                <a:latin typeface="Microsoft Sans Serif"/>
                <a:cs typeface="Microsoft Sans Serif"/>
              </a:rPr>
              <a:t>capacidad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situaciones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falta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producto,</a:t>
            </a:r>
            <a:r>
              <a:rPr dirty="0" sz="1100" spc="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nivel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detalle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entregado,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infraestructura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necesaria</a:t>
            </a:r>
            <a:r>
              <a:rPr dirty="0" sz="1100" spc="1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forma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resultados </a:t>
            </a:r>
            <a:r>
              <a:rPr dirty="0" sz="1100">
                <a:latin typeface="Microsoft Sans Serif"/>
                <a:cs typeface="Microsoft Sans Serif"/>
              </a:rPr>
              <a:t>pueden ser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tienda.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algn="just" marL="369570" marR="825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revisión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única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tecnología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desafío,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sino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capacidades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encuentran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existentes,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2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distintas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estrategias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utilizadas</a:t>
            </a:r>
            <a:r>
              <a:rPr dirty="0" sz="1100" spc="2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abordar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2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monitoreo</a:t>
            </a:r>
            <a:r>
              <a:rPr dirty="0" sz="1100" spc="2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2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30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las </a:t>
            </a:r>
            <a:r>
              <a:rPr dirty="0" sz="1100">
                <a:latin typeface="Microsoft Sans Serif"/>
                <a:cs typeface="Microsoft Sans Serif"/>
              </a:rPr>
              <a:t>limitaciones</a:t>
            </a:r>
            <a:r>
              <a:rPr dirty="0" sz="1100" spc="1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pueden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aparecer</a:t>
            </a:r>
            <a:r>
              <a:rPr dirty="0" sz="1100" spc="1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1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trabajar</a:t>
            </a:r>
            <a:r>
              <a:rPr dirty="0" sz="1100" spc="1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condiciones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reales</a:t>
            </a:r>
            <a:r>
              <a:rPr dirty="0" sz="1100" spc="1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5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operación.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1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antecedentes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servirán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1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base</a:t>
            </a:r>
            <a:r>
              <a:rPr dirty="0" sz="1100" spc="1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definir</a:t>
            </a:r>
            <a:r>
              <a:rPr dirty="0" sz="1100" spc="1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justificar</a:t>
            </a:r>
            <a:r>
              <a:rPr dirty="0" sz="1100" spc="1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las </a:t>
            </a:r>
            <a:r>
              <a:rPr dirty="0" sz="1100">
                <a:latin typeface="Microsoft Sans Serif"/>
                <a:cs typeface="Microsoft Sans Serif"/>
              </a:rPr>
              <a:t>características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propuesta.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6486" y="789788"/>
            <a:ext cx="5308600" cy="889508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19"/>
              </a:spcBef>
            </a:pPr>
            <a:r>
              <a:rPr dirty="0" sz="1100" spc="-50">
                <a:latin typeface="Microsoft Sans Serif"/>
                <a:cs typeface="Microsoft Sans Serif"/>
              </a:rPr>
              <a:t>7</a:t>
            </a:r>
            <a:endParaRPr sz="1100">
              <a:latin typeface="Microsoft Sans Serif"/>
              <a:cs typeface="Microsoft Sans Serif"/>
            </a:endParaRPr>
          </a:p>
          <a:p>
            <a:pPr lvl="1" marL="472440" indent="-45974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72440" algn="l"/>
              </a:tabLst>
            </a:pPr>
            <a:r>
              <a:rPr dirty="0" sz="1100" b="1">
                <a:latin typeface="Arial"/>
                <a:cs typeface="Arial"/>
              </a:rPr>
              <a:t>Soluciones</a:t>
            </a:r>
            <a:r>
              <a:rPr dirty="0" sz="1100" spc="-6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analizadas</a:t>
            </a:r>
            <a:endParaRPr sz="11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marL="15240" marR="31115">
              <a:lnSpc>
                <a:spcPct val="110200"/>
              </a:lnSpc>
            </a:pP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homologación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seleccionaron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comerciales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propuestas </a:t>
            </a:r>
            <a:r>
              <a:rPr dirty="0" sz="1100">
                <a:latin typeface="Microsoft Sans Serif"/>
                <a:cs typeface="Microsoft Sans Serif"/>
              </a:rPr>
              <a:t>académicas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relacionadas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quiebres</a:t>
            </a:r>
            <a:r>
              <a:rPr dirty="0" sz="1100" spc="5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stock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 visión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consideraron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distintos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métodos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captura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procesamiento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propósito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cómo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aborda </a:t>
            </a:r>
            <a:r>
              <a:rPr dirty="0" sz="1100">
                <a:latin typeface="Microsoft Sans Serif"/>
                <a:cs typeface="Microsoft Sans Serif"/>
              </a:rPr>
              <a:t>actualmente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tanto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soluciones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implementadas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retail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en </a:t>
            </a:r>
            <a:r>
              <a:rPr dirty="0" sz="1100">
                <a:latin typeface="Microsoft Sans Serif"/>
                <a:cs typeface="Microsoft Sans Serif"/>
              </a:rPr>
              <a:t>investigaciones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recientes.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lvl="2" marL="930275" indent="-5797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30275" algn="l"/>
              </a:tabLst>
            </a:pPr>
            <a:r>
              <a:rPr dirty="0" sz="1100" b="1">
                <a:latin typeface="Arial"/>
                <a:cs typeface="Arial"/>
              </a:rPr>
              <a:t>Focal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Systems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– Shelf </a:t>
            </a:r>
            <a:r>
              <a:rPr dirty="0" sz="1100" spc="-25" b="1">
                <a:latin typeface="Arial"/>
                <a:cs typeface="Arial"/>
              </a:rPr>
              <a:t>AI</a:t>
            </a:r>
            <a:endParaRPr sz="11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29"/>
              </a:spcBef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marL="15240" marR="78740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Microsoft Sans Serif"/>
                <a:cs typeface="Microsoft Sans Serif"/>
              </a:rPr>
              <a:t>Focal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Systems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desarrolla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orientadas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monitoreo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automatizado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cámaras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artificial.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Shelf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AI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identificar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bajo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fuera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stock,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detectar </a:t>
            </a:r>
            <a:r>
              <a:rPr dirty="0" sz="1100">
                <a:latin typeface="Microsoft Sans Serif"/>
                <a:cs typeface="Microsoft Sans Serif"/>
              </a:rPr>
              <a:t>problemas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relacionados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disposición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las </a:t>
            </a:r>
            <a:r>
              <a:rPr dirty="0" sz="1100" spc="-10">
                <a:latin typeface="Microsoft Sans Serif"/>
                <a:cs typeface="Microsoft Sans Serif"/>
              </a:rPr>
              <a:t>estanterías.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5240" marR="127000">
              <a:lnSpc>
                <a:spcPct val="1105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utilizarse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priorizar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reposición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 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personal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referente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 relevante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debido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 </a:t>
            </a:r>
            <a:r>
              <a:rPr dirty="0" sz="1100">
                <a:latin typeface="Microsoft Sans Serif"/>
                <a:cs typeface="Microsoft Sans Serif"/>
              </a:rPr>
              <a:t>utiliza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fuente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para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disponibilidad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directamente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 proceso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reposición.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lvl="2" marL="930275" indent="-579755">
              <a:lnSpc>
                <a:spcPct val="100000"/>
              </a:lnSpc>
              <a:buAutoNum type="arabicPeriod" startAt="2"/>
              <a:tabLst>
                <a:tab pos="930275" algn="l"/>
              </a:tabLst>
            </a:pPr>
            <a:r>
              <a:rPr dirty="0" sz="1100" b="1">
                <a:latin typeface="Arial"/>
                <a:cs typeface="Arial"/>
              </a:rPr>
              <a:t>Simbe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Robotics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–</a:t>
            </a:r>
            <a:r>
              <a:rPr dirty="0" sz="1100" spc="-20" b="1">
                <a:latin typeface="Arial"/>
                <a:cs typeface="Arial"/>
              </a:rPr>
              <a:t> Tally</a:t>
            </a:r>
            <a:endParaRPr sz="11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00"/>
              </a:spcBef>
              <a:buFont typeface="Arial"/>
              <a:buAutoNum type="arabicPeriod" startAt="2"/>
            </a:pPr>
            <a:endParaRPr sz="1100">
              <a:latin typeface="Arial"/>
              <a:cs typeface="Arial"/>
            </a:endParaRPr>
          </a:p>
          <a:p>
            <a:pPr marL="15240" marR="34925">
              <a:lnSpc>
                <a:spcPct val="110500"/>
              </a:lnSpc>
              <a:spcBef>
                <a:spcPts val="5"/>
              </a:spcBef>
            </a:pPr>
            <a:r>
              <a:rPr dirty="0" sz="1100">
                <a:latin typeface="Microsoft Sans Serif"/>
                <a:cs typeface="Microsoft Sans Serif"/>
              </a:rPr>
              <a:t>Simbe Robotics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aborda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Tally,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 robot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autónomo </a:t>
            </a:r>
            <a:r>
              <a:rPr dirty="0" sz="1100">
                <a:latin typeface="Microsoft Sans Serif"/>
                <a:cs typeface="Microsoft Sans Serif"/>
              </a:rPr>
              <a:t>diseñado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recorrer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pasillos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recopilar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el </a:t>
            </a:r>
            <a:r>
              <a:rPr dirty="0" sz="1100">
                <a:latin typeface="Microsoft Sans Serif"/>
                <a:cs typeface="Microsoft Sans Serif"/>
              </a:rPr>
              <a:t>estado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estanterías.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sensores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para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situaciones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relacionadas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quiebres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stock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otras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condiciones</a:t>
            </a:r>
            <a:r>
              <a:rPr dirty="0" sz="1100">
                <a:latin typeface="Microsoft Sans Serif"/>
                <a:cs typeface="Microsoft Sans Serif"/>
              </a:rPr>
              <a:t> presentes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5240" marR="140970">
              <a:lnSpc>
                <a:spcPct val="110100"/>
              </a:lnSpc>
            </a:pP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diferencia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dependen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cámaras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ubicadas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posiciones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fijas, </a:t>
            </a:r>
            <a:r>
              <a:rPr dirty="0" sz="1100">
                <a:latin typeface="Microsoft Sans Serif"/>
                <a:cs typeface="Microsoft Sans Serif"/>
              </a:rPr>
              <a:t>Tally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captura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plataforma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móvil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diseñada </a:t>
            </a:r>
            <a:r>
              <a:rPr dirty="0" sz="1100">
                <a:latin typeface="Microsoft Sans Serif"/>
                <a:cs typeface="Microsoft Sans Serif"/>
              </a:rPr>
              <a:t>específicamente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recorrer 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tienda.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incorporación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permite </a:t>
            </a:r>
            <a:r>
              <a:rPr dirty="0" sz="1100">
                <a:latin typeface="Microsoft Sans Serif"/>
                <a:cs typeface="Microsoft Sans Serif"/>
              </a:rPr>
              <a:t>considerar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enfoque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donde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dispositivo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posicionarse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frente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a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inspección.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lvl="2" marL="930275" indent="-579755">
              <a:lnSpc>
                <a:spcPct val="100000"/>
              </a:lnSpc>
              <a:buAutoNum type="arabicPeriod" startAt="3"/>
              <a:tabLst>
                <a:tab pos="930275" algn="l"/>
              </a:tabLst>
            </a:pPr>
            <a:r>
              <a:rPr dirty="0" sz="1100" b="1">
                <a:latin typeface="Arial"/>
                <a:cs typeface="Arial"/>
              </a:rPr>
              <a:t>Scandit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–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ShelfView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Arial"/>
              <a:cs typeface="Arial"/>
            </a:endParaRPr>
          </a:p>
          <a:p>
            <a:pPr marL="15240" marR="227329">
              <a:lnSpc>
                <a:spcPct val="110000"/>
              </a:lnSpc>
            </a:pPr>
            <a:r>
              <a:rPr dirty="0" sz="1100">
                <a:latin typeface="Microsoft Sans Serif"/>
                <a:cs typeface="Microsoft Sans Serif"/>
              </a:rPr>
              <a:t>ShelfView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 solución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Scandit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estanterías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inteligencia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artificial.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para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situaciones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bajo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stock 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ubicados </a:t>
            </a:r>
            <a:r>
              <a:rPr dirty="0" sz="1100">
                <a:latin typeface="Microsoft Sans Serif"/>
                <a:cs typeface="Microsoft Sans Serif"/>
              </a:rPr>
              <a:t>incorrectamente,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transformando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alertas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 </a:t>
            </a:r>
            <a:r>
              <a:rPr dirty="0" sz="1100">
                <a:latin typeface="Microsoft Sans Serif"/>
                <a:cs typeface="Microsoft Sans Serif"/>
              </a:rPr>
              <a:t>pueden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personal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tienda.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5240" marR="40005">
              <a:lnSpc>
                <a:spcPct val="111100"/>
              </a:lnSpc>
            </a:pP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característica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ShelfView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posibilidad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trabajar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10">
                <a:latin typeface="Microsoft Sans Serif"/>
                <a:cs typeface="Microsoft Sans Serif"/>
              </a:rPr>
              <a:t> diferentes </a:t>
            </a:r>
            <a:r>
              <a:rPr dirty="0" sz="1100">
                <a:latin typeface="Microsoft Sans Serif"/>
                <a:cs typeface="Microsoft Sans Serif"/>
              </a:rPr>
              <a:t>métodos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captura.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provenir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dispositivos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móviles,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535" y="786739"/>
            <a:ext cx="5305425" cy="649478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5214620">
              <a:lnSpc>
                <a:spcPct val="100000"/>
              </a:lnSpc>
              <a:spcBef>
                <a:spcPts val="240"/>
              </a:spcBef>
            </a:pPr>
            <a:r>
              <a:rPr dirty="0" sz="1100" spc="-50">
                <a:latin typeface="Microsoft Sans Serif"/>
                <a:cs typeface="Microsoft Sans Serif"/>
              </a:rPr>
              <a:t>8</a:t>
            </a:r>
            <a:endParaRPr sz="1100">
              <a:latin typeface="Microsoft Sans Serif"/>
              <a:cs typeface="Microsoft Sans Serif"/>
            </a:endParaRPr>
          </a:p>
          <a:p>
            <a:pPr marL="12700" marR="56515">
              <a:lnSpc>
                <a:spcPct val="109100"/>
              </a:lnSpc>
              <a:spcBef>
                <a:spcPts val="25"/>
              </a:spcBef>
            </a:pPr>
            <a:r>
              <a:rPr dirty="0" sz="1100">
                <a:latin typeface="Microsoft Sans Serif"/>
                <a:cs typeface="Microsoft Sans Serif"/>
              </a:rPr>
              <a:t>cámaras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instaladas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posiciones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fijas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 robots,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permitiendo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adaptar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obtención</a:t>
            </a:r>
            <a:r>
              <a:rPr dirty="0" sz="1100" spc="-25">
                <a:latin typeface="Microsoft Sans Serif"/>
                <a:cs typeface="Microsoft Sans Serif"/>
              </a:rPr>
              <a:t> de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diferentes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configuraciones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tienda.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lvl="2" marL="927100" marR="552450" indent="-579755">
              <a:lnSpc>
                <a:spcPct val="109100"/>
              </a:lnSpc>
              <a:buAutoNum type="arabicPeriod" startAt="4"/>
              <a:tabLst>
                <a:tab pos="927100" algn="l"/>
              </a:tabLst>
            </a:pPr>
            <a:r>
              <a:rPr dirty="0" sz="1100" b="1">
                <a:latin typeface="Arial"/>
                <a:cs typeface="Arial"/>
              </a:rPr>
              <a:t>DRIVE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– </a:t>
            </a:r>
            <a:r>
              <a:rPr dirty="0" sz="1100" spc="-10" b="1">
                <a:latin typeface="Arial"/>
                <a:cs typeface="Arial"/>
              </a:rPr>
              <a:t>Distributed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Robotic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Intelligence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Vision-based </a:t>
            </a:r>
            <a:r>
              <a:rPr dirty="0" sz="1100" b="1">
                <a:latin typeface="Arial"/>
                <a:cs typeface="Arial"/>
              </a:rPr>
              <a:t>Exploration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for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Retail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Shelf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Monitoring</a:t>
            </a:r>
            <a:endParaRPr sz="11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04"/>
              </a:spcBef>
              <a:buFont typeface="Arial"/>
              <a:buAutoNum type="arabicPeriod" startAt="4"/>
            </a:pPr>
            <a:endParaRPr sz="1100">
              <a:latin typeface="Arial"/>
              <a:cs typeface="Arial"/>
            </a:endParaRPr>
          </a:p>
          <a:p>
            <a:pPr marL="12700" marR="107314">
              <a:lnSpc>
                <a:spcPct val="110600"/>
              </a:lnSpc>
            </a:pPr>
            <a:r>
              <a:rPr dirty="0" sz="1100">
                <a:latin typeface="Microsoft Sans Serif"/>
                <a:cs typeface="Microsoft Sans Serif"/>
              </a:rPr>
              <a:t>DRIVE corresponde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 académica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publicada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2026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automatizada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estanterías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supermercados.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plataforma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robótica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móvil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divide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dos </a:t>
            </a:r>
            <a:r>
              <a:rPr dirty="0" sz="1100">
                <a:latin typeface="Microsoft Sans Serif"/>
                <a:cs typeface="Microsoft Sans Serif"/>
              </a:rPr>
              <a:t>etapas.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Primero se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 detector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y, </a:t>
            </a:r>
            <a:r>
              <a:rPr dirty="0" sz="1100">
                <a:latin typeface="Microsoft Sans Serif"/>
                <a:cs typeface="Microsoft Sans Serif"/>
              </a:rPr>
              <a:t>posteriormente,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detecciones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sometidas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una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etapa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validación semántica.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02235">
              <a:lnSpc>
                <a:spcPct val="1101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segunda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etapa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disminuir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falsos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positivos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producirse</a:t>
            </a:r>
            <a:r>
              <a:rPr dirty="0" sz="1100" spc="-25">
                <a:latin typeface="Microsoft Sans Serif"/>
                <a:cs typeface="Microsoft Sans Serif"/>
              </a:rPr>
              <a:t> al </a:t>
            </a:r>
            <a:r>
              <a:rPr dirty="0" sz="1100">
                <a:latin typeface="Microsoft Sans Serif"/>
                <a:cs typeface="Microsoft Sans Serif"/>
              </a:rPr>
              <a:t>trabajar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 imágenes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ambientes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 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disposición </a:t>
            </a:r>
            <a:r>
              <a:rPr dirty="0" sz="1100">
                <a:latin typeface="Microsoft Sans Serif"/>
                <a:cs typeface="Microsoft Sans Serif"/>
              </a:rPr>
              <a:t>compleja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productos.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porque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muestra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 </a:t>
            </a:r>
            <a:r>
              <a:rPr dirty="0" sz="1100">
                <a:latin typeface="Microsoft Sans Serif"/>
                <a:cs typeface="Microsoft Sans Serif"/>
              </a:rPr>
              <a:t>enfoque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basta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visualmente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vacío, </a:t>
            </a:r>
            <a:r>
              <a:rPr dirty="0" sz="1100" spc="-20">
                <a:latin typeface="Microsoft Sans Serif"/>
                <a:cs typeface="Microsoft Sans Serif"/>
              </a:rPr>
              <a:t>sino </a:t>
            </a:r>
            <a:r>
              <a:rPr dirty="0" sz="1100">
                <a:latin typeface="Microsoft Sans Serif"/>
                <a:cs typeface="Microsoft Sans Serif"/>
              </a:rPr>
              <a:t>que 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evaluada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antes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considerarse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válida.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lvl="2" marL="927100" marR="755015" indent="-579755">
              <a:lnSpc>
                <a:spcPct val="110900"/>
              </a:lnSpc>
              <a:buAutoNum type="arabicPeriod" startAt="5"/>
              <a:tabLst>
                <a:tab pos="927100" algn="l"/>
              </a:tabLst>
            </a:pPr>
            <a:r>
              <a:rPr dirty="0" sz="1100" b="1">
                <a:latin typeface="Arial"/>
                <a:cs typeface="Arial"/>
              </a:rPr>
              <a:t>Deep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Learning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Based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Empty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Shelf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Detection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Based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on </a:t>
            </a:r>
            <a:r>
              <a:rPr dirty="0" sz="1100" spc="-10" b="1">
                <a:latin typeface="Arial"/>
                <a:cs typeface="Arial"/>
              </a:rPr>
              <a:t>Autonomous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Mobile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Robot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>
              <a:latin typeface="Arial"/>
              <a:cs typeface="Arial"/>
            </a:endParaRPr>
          </a:p>
          <a:p>
            <a:pPr marL="12700" marR="16510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trabajo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desarrollado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Simone,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Saggese,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Foggia 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Vento,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publicado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2026, </a:t>
            </a:r>
            <a:r>
              <a:rPr dirty="0" sz="1100">
                <a:latin typeface="Microsoft Sans Serif"/>
                <a:cs typeface="Microsoft Sans Serif"/>
              </a:rPr>
              <a:t>propone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 vacíos 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estanterías mediante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una </a:t>
            </a:r>
            <a:r>
              <a:rPr dirty="0" sz="1100">
                <a:latin typeface="Microsoft Sans Serif"/>
                <a:cs typeface="Microsoft Sans Serif"/>
              </a:rPr>
              <a:t>plataforma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robótica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autónoma.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método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divide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procesamiento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dos </a:t>
            </a:r>
            <a:r>
              <a:rPr dirty="0" sz="1100">
                <a:latin typeface="Microsoft Sans Serif"/>
                <a:cs typeface="Microsoft Sans Serif"/>
              </a:rPr>
              <a:t>etapas: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primero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 las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áreas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correspondientes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las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estanterías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y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espacios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zonas identificadas.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56515">
              <a:lnSpc>
                <a:spcPct val="110000"/>
              </a:lnSpc>
            </a:pP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interés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homologación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debido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separa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>
                <a:latin typeface="Microsoft Sans Serif"/>
                <a:cs typeface="Microsoft Sans Serif"/>
              </a:rPr>
              <a:t>identificación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estantería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su </a:t>
            </a:r>
            <a:r>
              <a:rPr dirty="0" sz="1100">
                <a:latin typeface="Microsoft Sans Serif"/>
                <a:cs typeface="Microsoft Sans Serif"/>
              </a:rPr>
              <a:t>contenido.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 observar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enfoque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donde 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 se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realiza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previamente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identificadas,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lugar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analizar 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imagen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completa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única</a:t>
            </a:r>
            <a:r>
              <a:rPr dirty="0" sz="1100" spc="-10">
                <a:latin typeface="Microsoft Sans Serif"/>
                <a:cs typeface="Microsoft Sans Serif"/>
              </a:rPr>
              <a:t> unidad.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88830" y="804418"/>
            <a:ext cx="1035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Microsoft Sans Serif"/>
                <a:cs typeface="Microsoft Sans Serif"/>
              </a:rPr>
              <a:t>9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4814" y="987678"/>
            <a:ext cx="25438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dirty="0" sz="1100" spc="-10" b="1">
                <a:latin typeface="Arial"/>
                <a:cs typeface="Arial"/>
              </a:rPr>
              <a:t>4.1.6.</a:t>
            </a:r>
            <a:r>
              <a:rPr dirty="0" sz="1100" b="1">
                <a:latin typeface="Arial"/>
                <a:cs typeface="Arial"/>
              </a:rPr>
              <a:t>	</a:t>
            </a:r>
            <a:r>
              <a:rPr dirty="0" sz="1100" spc="-10" b="1">
                <a:latin typeface="Arial"/>
                <a:cs typeface="Arial"/>
              </a:rPr>
              <a:t>Homologación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soluciones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1381378"/>
          <a:ext cx="9091930" cy="4667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/>
                <a:gridCol w="878205"/>
                <a:gridCol w="982344"/>
                <a:gridCol w="1220470"/>
                <a:gridCol w="982344"/>
                <a:gridCol w="1275079"/>
                <a:gridCol w="1336040"/>
                <a:gridCol w="1543684"/>
              </a:tblGrid>
              <a:tr h="85661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Solución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3505" marR="98425">
                        <a:lnSpc>
                          <a:spcPct val="1101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Detección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vacío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/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OOS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4940" marR="150495">
                        <a:lnSpc>
                          <a:spcPct val="1101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Detección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bajo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stock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635" marR="120650">
                        <a:lnSpc>
                          <a:spcPct val="1101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Cuantificación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espacio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/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disponibilidad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1440" marR="84455">
                        <a:lnSpc>
                          <a:spcPct val="110100"/>
                        </a:lnSpc>
                        <a:spcBef>
                          <a:spcPts val="32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Análisis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por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estante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o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región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 marR="86995" indent="-100965">
                        <a:lnSpc>
                          <a:spcPct val="110900"/>
                        </a:lnSpc>
                        <a:spcBef>
                          <a:spcPts val="31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Reconocimiento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productos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 marR="64135" indent="-342265">
                        <a:lnSpc>
                          <a:spcPct val="110900"/>
                        </a:lnSpc>
                        <a:spcBef>
                          <a:spcPts val="31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Infraestructura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captura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Salida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operacional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9790">
                <a:tc>
                  <a:txBody>
                    <a:bodyPr/>
                    <a:lstStyle/>
                    <a:p>
                      <a:pPr marL="63500" marR="81915">
                        <a:lnSpc>
                          <a:spcPct val="111000"/>
                        </a:lnSpc>
                        <a:spcBef>
                          <a:spcPts val="31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Focal Systems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Shelf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AI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95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Parcial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Cámaras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fijas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06070">
                        <a:lnSpc>
                          <a:spcPct val="1111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tareas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reposición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5844">
                <a:tc>
                  <a:txBody>
                    <a:bodyPr/>
                    <a:lstStyle/>
                    <a:p>
                      <a:pPr marL="63500" marR="121920">
                        <a:lnSpc>
                          <a:spcPct val="1101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Simbe Robotics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–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 Tally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98450">
                        <a:lnSpc>
                          <a:spcPct val="110100"/>
                        </a:lnSpc>
                        <a:spcBef>
                          <a:spcPts val="350"/>
                        </a:spcBef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Parcial: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profundidad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y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volumen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52400">
                        <a:lnSpc>
                          <a:spcPct val="110100"/>
                        </a:lnSpc>
                        <a:spcBef>
                          <a:spcPts val="35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Robot,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cámaras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2D/3D y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sensores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profundidad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0020">
                        <a:lnSpc>
                          <a:spcPct val="109200"/>
                        </a:lnSpc>
                        <a:spcBef>
                          <a:spcPts val="36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dirty="0" sz="1100" spc="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información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reposición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9790">
                <a:tc>
                  <a:txBody>
                    <a:bodyPr/>
                    <a:lstStyle/>
                    <a:p>
                      <a:pPr marL="63500" marR="57785">
                        <a:lnSpc>
                          <a:spcPct val="110900"/>
                        </a:lnSpc>
                        <a:spcBef>
                          <a:spcPts val="31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Scandit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–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ShelfView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95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2580">
                        <a:lnSpc>
                          <a:spcPct val="1109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Móvil,</a:t>
                      </a:r>
                      <a:r>
                        <a:rPr dirty="0" sz="11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cámaras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fijas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robots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04470">
                        <a:lnSpc>
                          <a:spcPct val="1109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1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priorizadas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y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reportes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521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DRIVE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31445">
                        <a:lnSpc>
                          <a:spcPct val="109100"/>
                        </a:lnSpc>
                        <a:spcBef>
                          <a:spcPts val="36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95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31445">
                        <a:lnSpc>
                          <a:spcPct val="109100"/>
                        </a:lnSpc>
                        <a:spcBef>
                          <a:spcPts val="360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7470">
                        <a:lnSpc>
                          <a:spcPct val="109100"/>
                        </a:lnSpc>
                        <a:spcBef>
                          <a:spcPts val="36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requerido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para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detectar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vacío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05130">
                        <a:lnSpc>
                          <a:spcPct val="109100"/>
                        </a:lnSpc>
                        <a:spcBef>
                          <a:spcPts val="36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Robot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móvil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+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cámara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0645">
                        <a:lnSpc>
                          <a:spcPct val="109100"/>
                        </a:lnSpc>
                        <a:spcBef>
                          <a:spcPts val="36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Detección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validación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espacios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vacíos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10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012190"/>
          <a:ext cx="9091930" cy="1113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/>
                <a:gridCol w="878205"/>
                <a:gridCol w="982344"/>
                <a:gridCol w="1220470"/>
                <a:gridCol w="982344"/>
                <a:gridCol w="1275079"/>
                <a:gridCol w="1336040"/>
                <a:gridCol w="1543684"/>
              </a:tblGrid>
              <a:tr h="1113155">
                <a:tc>
                  <a:txBody>
                    <a:bodyPr/>
                    <a:lstStyle/>
                    <a:p>
                      <a:pPr marL="63500" marR="216535">
                        <a:lnSpc>
                          <a:spcPct val="110300"/>
                        </a:lnSpc>
                        <a:spcBef>
                          <a:spcPts val="325"/>
                        </a:spcBef>
                      </a:pP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Simone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et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al.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(2026)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Sí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31445">
                        <a:lnSpc>
                          <a:spcPct val="109100"/>
                        </a:lnSpc>
                        <a:spcBef>
                          <a:spcPts val="365"/>
                        </a:spcBef>
                      </a:pP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especificado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7320">
                        <a:lnSpc>
                          <a:spcPct val="110300"/>
                        </a:lnSpc>
                        <a:spcBef>
                          <a:spcPts val="35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Sí:</a:t>
                      </a:r>
                      <a:r>
                        <a:rPr dirty="0" sz="1100" spc="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identifica primero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áreas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estantería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requerido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05130">
                        <a:lnSpc>
                          <a:spcPct val="109100"/>
                        </a:lnSpc>
                        <a:spcBef>
                          <a:spcPts val="36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Robot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móvil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+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cámara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35280">
                        <a:lnSpc>
                          <a:spcPct val="109100"/>
                        </a:lnSpc>
                        <a:spcBef>
                          <a:spcPts val="36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Detección</a:t>
                      </a:r>
                      <a:r>
                        <a:rPr dirty="0" sz="11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estanterías</a:t>
                      </a:r>
                      <a:r>
                        <a:rPr dirty="0" sz="1100" spc="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vacías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3762"/>
            <a:ext cx="5764530" cy="724408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85"/>
              </a:spcBef>
            </a:pPr>
            <a:r>
              <a:rPr dirty="0" sz="1100" spc="-25">
                <a:latin typeface="Microsoft Sans Serif"/>
                <a:cs typeface="Microsoft Sans Serif"/>
              </a:rPr>
              <a:t>11</a:t>
            </a:r>
            <a:endParaRPr sz="1100">
              <a:latin typeface="Microsoft Sans Serif"/>
              <a:cs typeface="Microsoft Sans Serif"/>
            </a:endParaRPr>
          </a:p>
          <a:p>
            <a:pPr marL="698500">
              <a:lnSpc>
                <a:spcPct val="100000"/>
              </a:lnSpc>
              <a:spcBef>
                <a:spcPts val="95"/>
              </a:spcBef>
              <a:tabLst>
                <a:tab pos="1384300" algn="l"/>
              </a:tabLst>
            </a:pPr>
            <a:r>
              <a:rPr dirty="0" sz="1200" spc="-20" b="1">
                <a:latin typeface="Arial"/>
                <a:cs typeface="Arial"/>
              </a:rPr>
              <a:t>4.1.7</a:t>
            </a:r>
            <a:r>
              <a:rPr dirty="0" sz="1200" b="1">
                <a:latin typeface="Arial"/>
                <a:cs typeface="Arial"/>
              </a:rPr>
              <a:t>	Análisis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los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resultados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homologación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Arial"/>
              <a:cs typeface="Arial"/>
            </a:endParaRPr>
          </a:p>
          <a:p>
            <a:pPr marL="12700" marR="189865">
              <a:lnSpc>
                <a:spcPct val="1101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comparación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muestra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 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situaciones</a:t>
            </a:r>
            <a:r>
              <a:rPr dirty="0" sz="1100" spc="-25">
                <a:latin typeface="Microsoft Sans Serif"/>
                <a:cs typeface="Microsoft Sans Serif"/>
              </a:rPr>
              <a:t> de </a:t>
            </a:r>
            <a:r>
              <a:rPr dirty="0" sz="1100">
                <a:latin typeface="Microsoft Sans Serif"/>
                <a:cs typeface="Microsoft Sans Serif"/>
              </a:rPr>
              <a:t>quiebre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stock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capacidad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presente tanto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comerciales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25">
                <a:latin typeface="Microsoft Sans Serif"/>
                <a:cs typeface="Microsoft Sans Serif"/>
              </a:rPr>
              <a:t> en </a:t>
            </a:r>
            <a:r>
              <a:rPr dirty="0" sz="1100">
                <a:latin typeface="Microsoft Sans Serif"/>
                <a:cs typeface="Microsoft Sans Serif"/>
              </a:rPr>
              <a:t>propuestas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académicas.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embargo,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diferencias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importantes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forma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que </a:t>
            </a:r>
            <a:r>
              <a:rPr dirty="0" sz="1100">
                <a:latin typeface="Microsoft Sans Serif"/>
                <a:cs typeface="Microsoft Sans Serif"/>
              </a:rPr>
              <a:t>cada alternativa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obtiene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 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así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detalle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entrega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reposición.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44145">
              <a:lnSpc>
                <a:spcPct val="110500"/>
              </a:lnSpc>
            </a:pP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comerciales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analizadas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mayor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desarrollo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integración</a:t>
            </a:r>
            <a:r>
              <a:rPr dirty="0" sz="1100" spc="-25">
                <a:latin typeface="Microsoft Sans Serif"/>
                <a:cs typeface="Microsoft Sans Serif"/>
              </a:rPr>
              <a:t> de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Focal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Systems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Scandit,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ejemplo, </a:t>
            </a:r>
            <a:r>
              <a:rPr dirty="0" sz="1100">
                <a:latin typeface="Microsoft Sans Serif"/>
                <a:cs typeface="Microsoft Sans Serif"/>
              </a:rPr>
              <a:t>utilizan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desde las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 generar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reposición,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mientras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Simbe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Robotics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sensores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adicionales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plataforma </a:t>
            </a:r>
            <a:r>
              <a:rPr dirty="0" sz="1100">
                <a:latin typeface="Microsoft Sans Serif"/>
                <a:cs typeface="Microsoft Sans Serif"/>
              </a:rPr>
              <a:t>robótica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móvil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obtener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disponibilidad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niveles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producto.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68580">
              <a:lnSpc>
                <a:spcPct val="110100"/>
              </a:lnSpc>
            </a:pP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otra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parte, 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académicas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analizadas 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concentran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principalmente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el </a:t>
            </a:r>
            <a:r>
              <a:rPr dirty="0" sz="1100">
                <a:latin typeface="Microsoft Sans Serif"/>
                <a:cs typeface="Microsoft Sans Serif"/>
              </a:rPr>
              <a:t>problema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computacional.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DRIVE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etapa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adicional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validación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para </a:t>
            </a:r>
            <a:r>
              <a:rPr dirty="0" sz="1100">
                <a:latin typeface="Microsoft Sans Serif"/>
                <a:cs typeface="Microsoft Sans Serif"/>
              </a:rPr>
              <a:t>disminuir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falsos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positivos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vacíos, mientras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trabajo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Simone et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separa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identificación de las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áreas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estantería de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5">
                <a:latin typeface="Microsoft Sans Serif"/>
                <a:cs typeface="Microsoft Sans Serif"/>
              </a:rPr>
              <a:t> de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ellas.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9685">
              <a:lnSpc>
                <a:spcPct val="110200"/>
              </a:lnSpc>
            </a:pP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aspecto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identificado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durante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homologación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</a:t>
            </a:r>
            <a:r>
              <a:rPr dirty="0" sz="1100" spc="5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implica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necesariamente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cuantificación.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bien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 </a:t>
            </a:r>
            <a:r>
              <a:rPr dirty="0" sz="1100" spc="-10">
                <a:latin typeface="Microsoft Sans Serif"/>
                <a:cs typeface="Microsoft Sans Serif"/>
              </a:rPr>
              <a:t>revisadas </a:t>
            </a:r>
            <a:r>
              <a:rPr dirty="0" sz="1100">
                <a:latin typeface="Microsoft Sans Serif"/>
                <a:cs typeface="Microsoft Sans Serif"/>
              </a:rPr>
              <a:t>permiten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identificar </a:t>
            </a:r>
            <a:r>
              <a:rPr dirty="0" sz="1100" spc="-10">
                <a:latin typeface="Microsoft Sans Serif"/>
                <a:cs typeface="Microsoft Sans Serif"/>
              </a:rPr>
              <a:t>situaciones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falta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disminución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10">
                <a:latin typeface="Microsoft Sans Serif"/>
                <a:cs typeface="Microsoft Sans Serif"/>
              </a:rPr>
              <a:t> pública </a:t>
            </a:r>
            <a:r>
              <a:rPr dirty="0" sz="1100">
                <a:latin typeface="Microsoft Sans Serif"/>
                <a:cs typeface="Microsoft Sans Serif"/>
              </a:rPr>
              <a:t>analizada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establecer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calculen </a:t>
            </a:r>
            <a:r>
              <a:rPr dirty="0" sz="1100">
                <a:latin typeface="Microsoft Sans Serif"/>
                <a:cs typeface="Microsoft Sans Serif"/>
              </a:rPr>
              <a:t>explícitamente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porcentaje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espacio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 disponible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 región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una </a:t>
            </a:r>
            <a:r>
              <a:rPr dirty="0" sz="1100">
                <a:latin typeface="Microsoft Sans Serif"/>
                <a:cs typeface="Microsoft Sans Serif"/>
              </a:rPr>
              <a:t>góndola.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caso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Simbe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Robotics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aproximación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profundidad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volumen,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aunque su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objetivo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corresponde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directamente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medición </a:t>
            </a:r>
            <a:r>
              <a:rPr dirty="0" sz="1100">
                <a:latin typeface="Microsoft Sans Serif"/>
                <a:cs typeface="Microsoft Sans Serif"/>
              </a:rPr>
              <a:t>porcentual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proyecto.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43180">
              <a:lnSpc>
                <a:spcPct val="110300"/>
              </a:lnSpc>
            </a:pP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diferencia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especialmente </a:t>
            </a:r>
            <a:r>
              <a:rPr dirty="0" sz="1100">
                <a:latin typeface="Microsoft Sans Serif"/>
                <a:cs typeface="Microsoft Sans Serif"/>
              </a:rPr>
              <a:t>relevante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frente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 desafío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Walmart, </a:t>
            </a:r>
            <a:r>
              <a:rPr dirty="0" sz="1100">
                <a:latin typeface="Microsoft Sans Serif"/>
                <a:cs typeface="Microsoft Sans Serif"/>
              </a:rPr>
              <a:t>cuyo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objetivo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 limita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existencia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busca </a:t>
            </a:r>
            <a:r>
              <a:rPr dirty="0" sz="1100">
                <a:latin typeface="Microsoft Sans Serif"/>
                <a:cs typeface="Microsoft Sans Serif"/>
              </a:rPr>
              <a:t>establecer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 libre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 y,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ser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obtener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 información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manera </a:t>
            </a:r>
            <a:r>
              <a:rPr dirty="0" sz="1100">
                <a:latin typeface="Microsoft Sans Serif"/>
                <a:cs typeface="Microsoft Sans Serif"/>
              </a:rPr>
              <a:t>segmentada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cada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0160">
              <a:lnSpc>
                <a:spcPct val="110300"/>
              </a:lnSpc>
            </a:pPr>
            <a:r>
              <a:rPr dirty="0" sz="1100">
                <a:latin typeface="Microsoft Sans Serif"/>
                <a:cs typeface="Microsoft Sans Serif"/>
              </a:rPr>
              <a:t>A partir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orientarse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hacia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6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localización </a:t>
            </a:r>
            <a:r>
              <a:rPr dirty="0" sz="1100">
                <a:latin typeface="Microsoft Sans Serif"/>
                <a:cs typeface="Microsoft Sans Serif"/>
              </a:rPr>
              <a:t>cuantitativa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manteniendo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vacíos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proceso,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buscando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entregar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representación </a:t>
            </a:r>
            <a:r>
              <a:rPr dirty="0" sz="1100">
                <a:latin typeface="Microsoft Sans Serif"/>
                <a:cs typeface="Microsoft Sans Serif"/>
              </a:rPr>
              <a:t>espacial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 </a:t>
            </a:r>
            <a:r>
              <a:rPr dirty="0" sz="1100">
                <a:latin typeface="Microsoft Sans Serif"/>
                <a:cs typeface="Microsoft Sans Serif"/>
              </a:rPr>
              <a:t>permita identificar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qué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problema</a:t>
            </a:r>
            <a:r>
              <a:rPr dirty="0" sz="1100" spc="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magnitud.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2334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12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84250"/>
            <a:ext cx="5758815" cy="7456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35687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Solución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propuesta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—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REGOVA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lvl="1" marL="927100" indent="-48133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200" b="1">
                <a:latin typeface="Arial"/>
                <a:cs typeface="Arial"/>
              </a:rPr>
              <a:t>Diferenciación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estratégica: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propuesta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valor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>
              <a:latin typeface="Arial"/>
              <a:cs typeface="Arial"/>
            </a:endParaRPr>
          </a:p>
          <a:p>
            <a:pPr marL="12700" marR="120014">
              <a:lnSpc>
                <a:spcPct val="110300"/>
              </a:lnSpc>
            </a:pP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existentes,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orienta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desarrollar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computacional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capaz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localizar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cuantitativamente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productos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considerando su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estructura </a:t>
            </a:r>
            <a:r>
              <a:rPr dirty="0" sz="1100">
                <a:latin typeface="Microsoft Sans Serif"/>
                <a:cs typeface="Microsoft Sans Serif"/>
              </a:rPr>
              <a:t>física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condiciones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capturadas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imágenes.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83185">
              <a:lnSpc>
                <a:spcPct val="1102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limitar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o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producto.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objetivo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obtener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mayor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detalle,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permitiendo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dónde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disminución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 su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magnitud </a:t>
            </a:r>
            <a:r>
              <a:rPr dirty="0" sz="1100">
                <a:latin typeface="Microsoft Sans Serif"/>
                <a:cs typeface="Microsoft Sans Serif"/>
              </a:rPr>
              <a:t>estimada.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responde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 </a:t>
            </a:r>
            <a:r>
              <a:rPr dirty="0" sz="1100" spc="-10">
                <a:latin typeface="Microsoft Sans Serif"/>
                <a:cs typeface="Microsoft Sans Serif"/>
              </a:rPr>
              <a:t>requerimiento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principal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determinar </a:t>
            </a:r>
            <a:r>
              <a:rPr dirty="0" sz="1100">
                <a:latin typeface="Microsoft Sans Serif"/>
                <a:cs typeface="Microsoft Sans Serif"/>
              </a:rPr>
              <a:t>cuánto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existe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y, 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entregar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manera </a:t>
            </a:r>
            <a:r>
              <a:rPr dirty="0" sz="1100">
                <a:latin typeface="Microsoft Sans Serif"/>
                <a:cs typeface="Microsoft Sans Serif"/>
              </a:rPr>
              <a:t>diferenciada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cada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nivel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organizar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propone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jerárquica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</a:t>
            </a:r>
            <a:endParaRPr sz="1100">
              <a:latin typeface="Microsoft Sans Serif"/>
              <a:cs typeface="Microsoft Sans Serif"/>
            </a:endParaRPr>
          </a:p>
          <a:p>
            <a:pPr marL="12700" marR="73025">
              <a:lnSpc>
                <a:spcPct val="109100"/>
              </a:lnSpc>
              <a:spcBef>
                <a:spcPts val="25"/>
              </a:spcBef>
            </a:pPr>
            <a:r>
              <a:rPr dirty="0" sz="1100">
                <a:latin typeface="Microsoft Sans Serif"/>
                <a:cs typeface="Microsoft Sans Serif"/>
              </a:rPr>
              <a:t>→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→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Región 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exhibición.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dividirse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diferentes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niveles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vez,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correspondientes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reposición.</a:t>
            </a:r>
            <a:endParaRPr sz="1100">
              <a:latin typeface="Microsoft Sans Serif"/>
              <a:cs typeface="Microsoft Sans Serif"/>
            </a:endParaRPr>
          </a:p>
          <a:p>
            <a:pPr marL="12700" marR="104775">
              <a:lnSpc>
                <a:spcPct val="110900"/>
              </a:lnSpc>
            </a:pPr>
            <a:r>
              <a:rPr dirty="0" sz="1100">
                <a:latin typeface="Microsoft Sans Serif"/>
                <a:cs typeface="Microsoft Sans Serif"/>
              </a:rPr>
              <a:t>De esta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forma,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disminución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localizada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identificada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depender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únicamente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promedio general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ocupación de toda 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7145">
              <a:lnSpc>
                <a:spcPct val="110000"/>
              </a:lnSpc>
            </a:pPr>
            <a:r>
              <a:rPr dirty="0" sz="1100">
                <a:latin typeface="Microsoft Sans Serif"/>
                <a:cs typeface="Microsoft Sans Serif"/>
              </a:rPr>
              <a:t>Sobre 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capturadas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cada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traducir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 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estado </a:t>
            </a:r>
            <a:r>
              <a:rPr dirty="0" sz="1100">
                <a:latin typeface="Microsoft Sans Serif"/>
                <a:cs typeface="Microsoft Sans Serif"/>
              </a:rPr>
              <a:t>operacional,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Normal,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Atención,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Crítico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requerida.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permiten </a:t>
            </a:r>
            <a:r>
              <a:rPr dirty="0" sz="1100">
                <a:latin typeface="Microsoft Sans Serif"/>
                <a:cs typeface="Microsoft Sans Serif"/>
              </a:rPr>
              <a:t>transformar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modelo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computacional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más </a:t>
            </a:r>
            <a:r>
              <a:rPr dirty="0" sz="1100">
                <a:latin typeface="Microsoft Sans Serif"/>
                <a:cs typeface="Microsoft Sans Serif"/>
              </a:rPr>
              <a:t>sencilla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interpretar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reposición.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complemento,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propone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incorporar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mapa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digital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configurable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góndola,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usuario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registrar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previamente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 estructura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regiones </a:t>
            </a:r>
            <a:r>
              <a:rPr dirty="0" sz="1100">
                <a:latin typeface="Microsoft Sans Serif"/>
                <a:cs typeface="Microsoft Sans Serif"/>
              </a:rPr>
              <a:t>analizadas con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ubicaciones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tienda.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propósito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componente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es </a:t>
            </a:r>
            <a:r>
              <a:rPr dirty="0" sz="1100">
                <a:latin typeface="Microsoft Sans Serif"/>
                <a:cs typeface="Microsoft Sans Serif"/>
              </a:rPr>
              <a:t>establecer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 lo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imagen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ubicación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operacional </a:t>
            </a:r>
            <a:r>
              <a:rPr dirty="0" sz="1100">
                <a:latin typeface="Microsoft Sans Serif"/>
                <a:cs typeface="Microsoft Sans Serif"/>
              </a:rPr>
              <a:t>concreta,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evitando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modelo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únicamente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 coordenada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una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contexto.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75565">
              <a:lnSpc>
                <a:spcPct val="1100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mantiene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separación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detección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decisión </a:t>
            </a:r>
            <a:r>
              <a:rPr dirty="0" sz="1100">
                <a:latin typeface="Microsoft Sans Serif"/>
                <a:cs typeface="Microsoft Sans Serif"/>
              </a:rPr>
              <a:t>operacional.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visión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computacional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góndola, </a:t>
            </a:r>
            <a:r>
              <a:rPr dirty="0" sz="1100">
                <a:latin typeface="Microsoft Sans Serif"/>
                <a:cs typeface="Microsoft Sans Serif"/>
              </a:rPr>
              <a:t>mientras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interpreta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acuerdo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criterios </a:t>
            </a:r>
            <a:r>
              <a:rPr dirty="0" sz="1100">
                <a:latin typeface="Microsoft Sans Serif"/>
                <a:cs typeface="Microsoft Sans Serif"/>
              </a:rPr>
              <a:t>configurables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disponibilidad.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 modificar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umbrales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 </a:t>
            </a:r>
            <a:r>
              <a:rPr dirty="0" sz="1100" spc="-10">
                <a:latin typeface="Microsoft Sans Serif"/>
                <a:cs typeface="Microsoft Sans Serif"/>
              </a:rPr>
              <a:t>generar </a:t>
            </a:r>
            <a:r>
              <a:rPr dirty="0" sz="1100">
                <a:latin typeface="Microsoft Sans Serif"/>
                <a:cs typeface="Microsoft Sans Serif"/>
              </a:rPr>
              <a:t>estados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 requerir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necesariamente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nuevo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entrenamiento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modelo.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3762"/>
            <a:ext cx="5764530" cy="55797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85"/>
              </a:spcBef>
            </a:pPr>
            <a:r>
              <a:rPr dirty="0" sz="1100" spc="-25">
                <a:latin typeface="Microsoft Sans Serif"/>
                <a:cs typeface="Microsoft Sans Serif"/>
              </a:rPr>
              <a:t>13</a:t>
            </a:r>
            <a:endParaRPr sz="1100">
              <a:latin typeface="Microsoft Sans Serif"/>
              <a:cs typeface="Microsoft Sans Serif"/>
            </a:endParaRPr>
          </a:p>
          <a:p>
            <a:pPr marL="44577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dirty="0" sz="1200" spc="-20" b="1">
                <a:latin typeface="Arial"/>
                <a:cs typeface="Arial"/>
              </a:rPr>
              <a:t>5.2.</a:t>
            </a:r>
            <a:r>
              <a:rPr dirty="0" sz="1200" b="1">
                <a:latin typeface="Arial"/>
                <a:cs typeface="Arial"/>
              </a:rPr>
              <a:t>	Arquitectura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conceptual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solución</a:t>
            </a:r>
            <a:endParaRPr sz="1200">
              <a:latin typeface="Arial"/>
              <a:cs typeface="Arial"/>
            </a:endParaRPr>
          </a:p>
          <a:p>
            <a:pPr marL="12700" marR="120014">
              <a:lnSpc>
                <a:spcPct val="110100"/>
              </a:lnSpc>
              <a:spcBef>
                <a:spcPts val="60"/>
              </a:spcBef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arquitectura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organiza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funcionamiento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desde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configuración </a:t>
            </a:r>
            <a:r>
              <a:rPr dirty="0" sz="1100">
                <a:latin typeface="Microsoft Sans Serif"/>
                <a:cs typeface="Microsoft Sans Serif"/>
              </a:rPr>
              <a:t>inicial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hasta 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información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útil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 las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reposición.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diseño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busca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mantener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separadas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definida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usuario,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el </a:t>
            </a:r>
            <a:r>
              <a:rPr dirty="0" sz="1100">
                <a:latin typeface="Microsoft Sans Serif"/>
                <a:cs typeface="Microsoft Sans Serif"/>
              </a:rPr>
              <a:t>procesamiento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interpretación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los </a:t>
            </a:r>
            <a:r>
              <a:rPr dirty="0" sz="1100" spc="-10">
                <a:latin typeface="Microsoft Sans Serif"/>
                <a:cs typeface="Microsoft Sans Serif"/>
              </a:rPr>
              <a:t>resultados.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23189">
              <a:lnSpc>
                <a:spcPct val="109700"/>
              </a:lnSpc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comienza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 la configuración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mapa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digital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donde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registra </a:t>
            </a:r>
            <a:r>
              <a:rPr dirty="0" sz="1100">
                <a:latin typeface="Microsoft Sans Serif"/>
                <a:cs typeface="Microsoft Sans Serif"/>
              </a:rPr>
              <a:t>su estructura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jerarquía compuesta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→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→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exhibición.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configuración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relacionar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posteriormente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áreas observadas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en </a:t>
            </a:r>
            <a:r>
              <a:rPr dirty="0" sz="1100">
                <a:latin typeface="Microsoft Sans Serif"/>
                <a:cs typeface="Microsoft Sans Serif"/>
              </a:rPr>
              <a:t>una imagen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ubicaciones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físicas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tienda.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79375">
              <a:lnSpc>
                <a:spcPct val="110100"/>
              </a:lnSpc>
            </a:pPr>
            <a:r>
              <a:rPr dirty="0" sz="1100">
                <a:latin typeface="Microsoft Sans Serif"/>
                <a:cs typeface="Microsoft Sans Serif"/>
              </a:rPr>
              <a:t>A partir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sala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venta, 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etapa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preprocesamiento,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destinada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preparar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reducir, </a:t>
            </a:r>
            <a:r>
              <a:rPr dirty="0" sz="1100">
                <a:latin typeface="Microsoft Sans Serif"/>
                <a:cs typeface="Microsoft Sans Serif"/>
              </a:rPr>
              <a:t>cuando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efectos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producidos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condiciones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Posteriormente,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módulo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computacional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analiza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definidas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estimación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observable.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213995">
              <a:lnSpc>
                <a:spcPct val="110500"/>
              </a:lnSpc>
            </a:pP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procesados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 una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interpretación operacional, </a:t>
            </a:r>
            <a:r>
              <a:rPr dirty="0" sz="1100">
                <a:latin typeface="Microsoft Sans Serif"/>
                <a:cs typeface="Microsoft Sans Serif"/>
              </a:rPr>
              <a:t>encargada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transformar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estimaciones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cuantitativas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configurables,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como </a:t>
            </a:r>
            <a:r>
              <a:rPr dirty="0" sz="1100">
                <a:latin typeface="Microsoft Sans Serif"/>
                <a:cs typeface="Microsoft Sans Serif"/>
              </a:rPr>
              <a:t>Normal,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Atención,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Crítico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requerida.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manera,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modelo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convertirse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directamente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asociada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ubicación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específica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góndola.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65405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Microsoft Sans Serif"/>
                <a:cs typeface="Microsoft Sans Serif"/>
              </a:rPr>
              <a:t>Finalmente,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puede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presentada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usuario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interfaz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 </a:t>
            </a:r>
            <a:r>
              <a:rPr dirty="0" sz="1100">
                <a:latin typeface="Microsoft Sans Serif"/>
                <a:cs typeface="Microsoft Sans Serif"/>
              </a:rPr>
              <a:t>permita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atención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tareas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reposición.</a:t>
            </a:r>
            <a:r>
              <a:rPr dirty="0" sz="1100" spc="-25">
                <a:latin typeface="Microsoft Sans Serif"/>
                <a:cs typeface="Microsoft Sans Serif"/>
              </a:rPr>
              <a:t> La </a:t>
            </a:r>
            <a:r>
              <a:rPr dirty="0" sz="1100">
                <a:latin typeface="Microsoft Sans Serif"/>
                <a:cs typeface="Microsoft Sans Serif"/>
              </a:rPr>
              <a:t>separación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distintos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componentes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modificar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criterios </a:t>
            </a:r>
            <a:r>
              <a:rPr dirty="0" sz="1100">
                <a:latin typeface="Microsoft Sans Serif"/>
                <a:cs typeface="Microsoft Sans Serif"/>
              </a:rPr>
              <a:t>operacionales,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umbrales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clasificar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estados,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intervenir </a:t>
            </a:r>
            <a:r>
              <a:rPr dirty="0" sz="1100">
                <a:latin typeface="Microsoft Sans Serif"/>
                <a:cs typeface="Microsoft Sans Serif"/>
              </a:rPr>
              <a:t>directamente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funcionamiento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modelo 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 </a:t>
            </a:r>
            <a:r>
              <a:rPr dirty="0" sz="1100" spc="-10">
                <a:latin typeface="Microsoft Sans Serif"/>
                <a:cs typeface="Microsoft Sans Serif"/>
              </a:rPr>
              <a:t>computacional.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14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011936"/>
            <a:ext cx="6781292" cy="5878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04418"/>
            <a:ext cx="5764530" cy="5248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15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13030">
              <a:lnSpc>
                <a:spcPct val="100000"/>
              </a:lnSpc>
              <a:tabLst>
                <a:tab pos="469900" algn="l"/>
              </a:tabLst>
            </a:pPr>
            <a:r>
              <a:rPr dirty="0" sz="1200" spc="-25" b="1">
                <a:latin typeface="Arial"/>
                <a:cs typeface="Arial"/>
              </a:rPr>
              <a:t>6.</a:t>
            </a:r>
            <a:r>
              <a:rPr dirty="0" sz="1200" b="1">
                <a:latin typeface="Arial"/>
                <a:cs typeface="Arial"/>
              </a:rPr>
              <a:t>	Alcance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solución</a:t>
            </a:r>
            <a:endParaRPr sz="1200">
              <a:latin typeface="Arial"/>
              <a:cs typeface="Arial"/>
            </a:endParaRPr>
          </a:p>
          <a:p>
            <a:pPr marL="12700" marR="50165">
              <a:lnSpc>
                <a:spcPct val="110500"/>
              </a:lnSpc>
              <a:spcBef>
                <a:spcPts val="1260"/>
              </a:spcBef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alcance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REGOVA se concentra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identificar, </a:t>
            </a:r>
            <a:r>
              <a:rPr dirty="0" sz="1100">
                <a:latin typeface="Microsoft Sans Serif"/>
                <a:cs typeface="Microsoft Sans Serif"/>
              </a:rPr>
              <a:t>localizar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 asociados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disminución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productos.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procesamiento 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sala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venta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organización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configurable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compuesta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por </a:t>
            </a:r>
            <a:r>
              <a:rPr dirty="0" sz="1100">
                <a:latin typeface="Microsoft Sans Serif"/>
                <a:cs typeface="Microsoft Sans Serif"/>
              </a:rPr>
              <a:t>góndolas,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exhibición.</a:t>
            </a:r>
            <a:endParaRPr sz="1100">
              <a:latin typeface="Microsoft Sans Serif"/>
              <a:cs typeface="Microsoft Sans Serif"/>
            </a:endParaRPr>
          </a:p>
          <a:p>
            <a:pPr marL="12700" marR="85725">
              <a:lnSpc>
                <a:spcPct val="110300"/>
              </a:lnSpc>
              <a:spcBef>
                <a:spcPts val="1185"/>
              </a:spcBef>
            </a:pP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alcance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 contempla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 estructura,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procesamiento</a:t>
            </a:r>
            <a:r>
              <a:rPr dirty="0" sz="1100" spc="-25">
                <a:latin typeface="Microsoft Sans Serif"/>
                <a:cs typeface="Microsoft Sans Serif"/>
              </a:rPr>
              <a:t> de </a:t>
            </a:r>
            <a:r>
              <a:rPr dirty="0" sz="1100">
                <a:latin typeface="Microsoft Sans Serif"/>
                <a:cs typeface="Microsoft Sans Serif"/>
              </a:rPr>
              <a:t>imágenes,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localización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cuantitativa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regiones </a:t>
            </a:r>
            <a:r>
              <a:rPr dirty="0" sz="1100">
                <a:latin typeface="Microsoft Sans Serif"/>
                <a:cs typeface="Microsoft Sans Serif"/>
              </a:rPr>
              <a:t>correspondientes. 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estimaciones,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sistema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permitirá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aplicar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criterios </a:t>
            </a:r>
            <a:r>
              <a:rPr dirty="0" sz="1100">
                <a:latin typeface="Microsoft Sans Serif"/>
                <a:cs typeface="Microsoft Sans Serif"/>
              </a:rPr>
              <a:t>configurables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representar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 estado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cada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región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 </a:t>
            </a:r>
            <a:r>
              <a:rPr dirty="0" sz="1100" spc="-10">
                <a:latin typeface="Microsoft Sans Serif"/>
                <a:cs typeface="Microsoft Sans Serif"/>
              </a:rPr>
              <a:t>visualizar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aquellas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requieren </a:t>
            </a:r>
            <a:r>
              <a:rPr dirty="0" sz="1100">
                <a:latin typeface="Microsoft Sans Serif"/>
                <a:cs typeface="Microsoft Sans Serif"/>
              </a:rPr>
              <a:t>atención.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 coincide con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flujo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 ya definimos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arquitectura,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desde</a:t>
            </a:r>
            <a:r>
              <a:rPr dirty="0" sz="1100" spc="-25">
                <a:latin typeface="Microsoft Sans Serif"/>
                <a:cs typeface="Microsoft Sans Serif"/>
              </a:rPr>
              <a:t> la </a:t>
            </a:r>
            <a:r>
              <a:rPr dirty="0" sz="1100">
                <a:latin typeface="Microsoft Sans Serif"/>
                <a:cs typeface="Microsoft Sans Serif"/>
              </a:rPr>
              <a:t>configuración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mapa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hasta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interpretación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visualización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resultados.</a:t>
            </a:r>
            <a:endParaRPr sz="1100">
              <a:latin typeface="Microsoft Sans Serif"/>
              <a:cs typeface="Microsoft Sans Serif"/>
            </a:endParaRPr>
          </a:p>
          <a:p>
            <a:pPr marL="12700" marR="69215">
              <a:lnSpc>
                <a:spcPct val="110000"/>
              </a:lnSpc>
              <a:spcBef>
                <a:spcPts val="1215"/>
              </a:spcBef>
            </a:pPr>
            <a:r>
              <a:rPr dirty="0" sz="1100">
                <a:latin typeface="Microsoft Sans Serif"/>
                <a:cs typeface="Microsoft Sans Serif"/>
              </a:rPr>
              <a:t>REGOVA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funcionará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herramienta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sistema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gestión de inventario.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tanto,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determinará 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cantidad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productos </a:t>
            </a:r>
            <a:r>
              <a:rPr dirty="0" sz="1100">
                <a:latin typeface="Microsoft Sans Serif"/>
                <a:cs typeface="Microsoft Sans Serif"/>
              </a:rPr>
              <a:t>disponibles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bodega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ejecutará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automáticamente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acciones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reposición.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análisis </a:t>
            </a:r>
            <a:r>
              <a:rPr dirty="0" sz="1100">
                <a:latin typeface="Microsoft Sans Serif"/>
                <a:cs typeface="Microsoft Sans Serif"/>
              </a:rPr>
              <a:t>estará limitado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 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 </a:t>
            </a:r>
            <a:r>
              <a:rPr dirty="0" sz="1100">
                <a:latin typeface="Microsoft Sans Serif"/>
                <a:cs typeface="Microsoft Sans Serif"/>
              </a:rPr>
              <a:t>previamente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configurada.</a:t>
            </a:r>
            <a:endParaRPr sz="1100">
              <a:latin typeface="Microsoft Sans Serif"/>
              <a:cs typeface="Microsoft Sans Serif"/>
            </a:endParaRPr>
          </a:p>
          <a:p>
            <a:pPr marL="12700" marR="134620">
              <a:lnSpc>
                <a:spcPct val="110000"/>
              </a:lnSpc>
              <a:spcBef>
                <a:spcPts val="1215"/>
              </a:spcBef>
            </a:pP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líneas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evolución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futura se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consideran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integración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información </a:t>
            </a:r>
            <a:r>
              <a:rPr dirty="0" sz="1100">
                <a:latin typeface="Microsoft Sans Serif"/>
                <a:cs typeface="Microsoft Sans Serif"/>
              </a:rPr>
              <a:t>histórica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ventas, 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demanda, la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variables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externas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y </a:t>
            </a:r>
            <a:r>
              <a:rPr dirty="0" sz="1100">
                <a:latin typeface="Microsoft Sans Serif"/>
                <a:cs typeface="Microsoft Sans Serif"/>
              </a:rPr>
              <a:t>mecanismos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aprendizaje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comportamiento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observado.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capacidades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no </a:t>
            </a:r>
            <a:r>
              <a:rPr dirty="0" sz="1100">
                <a:latin typeface="Microsoft Sans Serif"/>
                <a:cs typeface="Microsoft Sans Serif"/>
              </a:rPr>
              <a:t>forman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alcance principal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la versión desarrollada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durante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etapa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del </a:t>
            </a:r>
            <a:r>
              <a:rPr dirty="0" sz="1100" spc="-10">
                <a:latin typeface="Microsoft Sans Serif"/>
                <a:cs typeface="Microsoft Sans Serif"/>
              </a:rPr>
              <a:t>proyecto.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16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588" y="1161415"/>
            <a:ext cx="2548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</a:tabLst>
            </a:pPr>
            <a:r>
              <a:rPr dirty="0" sz="1200" spc="-25" b="1">
                <a:latin typeface="Arial"/>
                <a:cs typeface="Arial"/>
              </a:rPr>
              <a:t>7.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Funcionalidades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producto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1628267"/>
          <a:ext cx="9481820" cy="4861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540"/>
                <a:gridCol w="1753235"/>
                <a:gridCol w="6622415"/>
              </a:tblGrid>
              <a:tr h="466090">
                <a:tc>
                  <a:txBody>
                    <a:bodyPr/>
                    <a:lstStyle/>
                    <a:p>
                      <a:pPr algn="r" marR="2076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5" b="1">
                          <a:latin typeface="Arial"/>
                          <a:cs typeface="Arial"/>
                        </a:rPr>
                        <a:t>ID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Funcionalidad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5656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Descripción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7244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338455">
                        <a:lnSpc>
                          <a:spcPct val="1101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Configurar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estructura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303530">
                        <a:lnSpc>
                          <a:spcPct val="109100"/>
                        </a:lnSpc>
                        <a:spcBef>
                          <a:spcPts val="36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permitirá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registrar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configurar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estructura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góndola,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organizándose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en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estantes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exhibición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serán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utilizadas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como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referencia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análisis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visual.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978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144145">
                        <a:lnSpc>
                          <a:spcPct val="111000"/>
                        </a:lnSpc>
                        <a:spcBef>
                          <a:spcPts val="31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Recibir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imagen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góndola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para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análisis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103505">
                        <a:lnSpc>
                          <a:spcPct val="1109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permitirá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recibir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imagen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correspondiente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previamente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configurada,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utilizándose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como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entrada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su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procesamiento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mediante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visión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computacional.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77569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423545">
                        <a:lnSpc>
                          <a:spcPct val="110400"/>
                        </a:lnSpc>
                        <a:spcBef>
                          <a:spcPts val="32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Detectar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y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localizar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espacios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ausencia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532765">
                        <a:lnSpc>
                          <a:spcPct val="1109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analizará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imagen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identificar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posibles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espacios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asociados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ausencia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productos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determinar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su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ubicación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dentro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estructura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configurada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góndola.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266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279400">
                        <a:lnSpc>
                          <a:spcPct val="111000"/>
                        </a:lnSpc>
                        <a:spcBef>
                          <a:spcPts val="31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Estimar disponibilidad observable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73025">
                        <a:lnSpc>
                          <a:spcPct val="1110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estimará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cuantitativamente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observable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 las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analizadas,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permitiendo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representar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magnitud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disminución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detectada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únicamente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su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presencia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o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ausencia.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7820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237490">
                        <a:lnSpc>
                          <a:spcPct val="1097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Clasificar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el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estado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operacional</a:t>
                      </a:r>
                      <a:r>
                        <a:rPr dirty="0" sz="11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las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regiones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376555">
                        <a:lnSpc>
                          <a:spcPct val="109100"/>
                        </a:lnSpc>
                        <a:spcBef>
                          <a:spcPts val="36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asociará las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estimaciones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obtenidas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operacionales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configurables,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tales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como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Normal,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Atención,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Crítico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Revisión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requerida.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17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012190"/>
          <a:ext cx="9481820" cy="4819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8540"/>
                <a:gridCol w="1753235"/>
                <a:gridCol w="6622415"/>
              </a:tblGrid>
              <a:tr h="100012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520700" marR="81280">
                        <a:lnSpc>
                          <a:spcPct val="110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Visualizar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estado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y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generar</a:t>
                      </a:r>
                      <a:r>
                        <a:rPr dirty="0" sz="11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alertas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521334" marR="514984">
                        <a:lnSpc>
                          <a:spcPct val="110000"/>
                        </a:lnSpc>
                        <a:spcBef>
                          <a:spcPts val="35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presentará los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resultados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análisis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asociados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 estructura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y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generará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cuando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 región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alcance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 estado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 requiera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atención,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permitiendo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identificar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su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ubicación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nivel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disponibilidad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estimado.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386080">
                        <a:lnSpc>
                          <a:spcPct val="1100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Configurar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criterios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clasificación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189230">
                        <a:lnSpc>
                          <a:spcPct val="110000"/>
                        </a:lnSpc>
                        <a:spcBef>
                          <a:spcPts val="35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permitirá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establecer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modificar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umbrales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utilizados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transformar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las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estimaciones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disponibilidad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operacionales,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sin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requerir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modificaciones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modelo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visión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computacional.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978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80010">
                        <a:lnSpc>
                          <a:spcPct val="111100"/>
                        </a:lnSpc>
                        <a:spcBef>
                          <a:spcPts val="310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Gestionar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alertas operacionales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607060">
                        <a:lnSpc>
                          <a:spcPct val="111100"/>
                        </a:lnSpc>
                        <a:spcBef>
                          <a:spcPts val="335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permitirá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gestionar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generadas,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diferenciando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aquellas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pendientes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atención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aquellas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hayan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sido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atendidas.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99490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RF09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520700" marR="523875">
                        <a:lnSpc>
                          <a:spcPct val="110400"/>
                        </a:lnSpc>
                        <a:spcBef>
                          <a:spcPts val="32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Consultar panorama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general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382270">
                        <a:lnSpc>
                          <a:spcPct val="109200"/>
                        </a:lnSpc>
                        <a:spcBef>
                          <a:spcPts val="36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permitirá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visualizar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manera</a:t>
                      </a:r>
                      <a:r>
                        <a:rPr dirty="0" sz="11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consolidada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analizadas,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destacando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aquellas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contengan regiones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requieran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atención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revisión.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r" marR="1460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RF10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700" marR="231775">
                        <a:lnSpc>
                          <a:spcPct val="110300"/>
                        </a:lnSpc>
                        <a:spcBef>
                          <a:spcPts val="32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Revisar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resultados</a:t>
                      </a:r>
                      <a:r>
                        <a:rPr dirty="0" sz="11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que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requieren validación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1334" marR="137160">
                        <a:lnSpc>
                          <a:spcPct val="110300"/>
                        </a:lnSpc>
                        <a:spcBef>
                          <a:spcPts val="350"/>
                        </a:spcBef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sistema permitirá que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usuario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autorizado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revise los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resultados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identificados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como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Revisión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requerida,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consultando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imagen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analizada,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región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involucrada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estimación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generada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por REGOVA,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determine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 el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resultado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debe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ser validado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su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utilización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operacional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descartado,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sin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modificar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valores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obtenidos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durante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análisis.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18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588" y="1185798"/>
            <a:ext cx="1373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35" algn="l"/>
              </a:tabLst>
            </a:pPr>
            <a:r>
              <a:rPr dirty="0" sz="1200" spc="-25" b="1">
                <a:latin typeface="Arial"/>
                <a:cs typeface="Arial"/>
              </a:rPr>
              <a:t>8.</a:t>
            </a:r>
            <a:r>
              <a:rPr dirty="0" sz="1200" b="1">
                <a:latin typeface="Arial"/>
                <a:cs typeface="Arial"/>
              </a:rPr>
              <a:t>	Casos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 </a:t>
            </a:r>
            <a:r>
              <a:rPr dirty="0" sz="1200" spc="-25" b="1">
                <a:latin typeface="Arial"/>
                <a:cs typeface="Arial"/>
              </a:rPr>
              <a:t>uso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255" y="1905888"/>
          <a:ext cx="10387330" cy="4304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20"/>
                <a:gridCol w="1591310"/>
                <a:gridCol w="1122045"/>
                <a:gridCol w="1143635"/>
                <a:gridCol w="5850890"/>
              </a:tblGrid>
              <a:tr h="627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5" b="1">
                          <a:latin typeface="Arial"/>
                          <a:cs typeface="Arial"/>
                        </a:rPr>
                        <a:t>ID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37084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Caso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uso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Actor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principal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RF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asociados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Descripción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6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82550">
                        <a:lnSpc>
                          <a:spcPct val="1109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Configurar</a:t>
                      </a:r>
                      <a:r>
                        <a:rPr dirty="0" sz="11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estructura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 marR="99695">
                        <a:lnSpc>
                          <a:spcPct val="1109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Administrador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sistema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RF01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230504">
                        <a:lnSpc>
                          <a:spcPct val="1109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definir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estructura de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 mediante sus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estantes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exhibición,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estableciendo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referencia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espacial</a:t>
                      </a:r>
                      <a:r>
                        <a:rPr dirty="0" sz="11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REGOVA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utilizará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durante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análisis.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216535">
                        <a:lnSpc>
                          <a:spcPct val="1091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Configurar</a:t>
                      </a:r>
                      <a:r>
                        <a:rPr dirty="0" sz="11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criterios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clasificación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 marR="99695">
                        <a:lnSpc>
                          <a:spcPct val="1091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Administrador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del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sistema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RF07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08585">
                        <a:lnSpc>
                          <a:spcPct val="1091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establecer</a:t>
                      </a:r>
                      <a:r>
                        <a:rPr dirty="0" sz="11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modificar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umbrales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utilizados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transformar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estimaciones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observable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dirty="0" sz="1100" spc="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operacionales.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3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39687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Analizar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Supervisor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63500" marR="271145">
                        <a:lnSpc>
                          <a:spcPct val="1101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RF02,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RF03,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RF04,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RF05, 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RF06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23825">
                        <a:lnSpc>
                          <a:spcPct val="1104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procesar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imagen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correspondiente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configurada.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REGOVA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recibe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imagen,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detecta y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localiza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posibles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espacios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ausencia,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observable,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determina el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operacional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genera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alertas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correspondientes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cuando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cumplen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criterios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establecidos.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3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73990">
                        <a:lnSpc>
                          <a:spcPct val="1109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Consultar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estado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Reponedor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RF06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280035">
                        <a:lnSpc>
                          <a:spcPct val="1109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 consultar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resultados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analizada,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visualizando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 la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estimada</a:t>
                      </a:r>
                      <a:r>
                        <a:rPr dirty="0" sz="1100" spc="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100" spc="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operacional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 sus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estantes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exhibición.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19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3255" y="1012189"/>
          <a:ext cx="10387330" cy="34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20"/>
                <a:gridCol w="1591310"/>
                <a:gridCol w="1122045"/>
                <a:gridCol w="1143635"/>
                <a:gridCol w="5850890"/>
              </a:tblGrid>
              <a:tr h="920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74625">
                        <a:lnSpc>
                          <a:spcPct val="1091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Consultar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alertas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reposición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Reponedor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RF06,</a:t>
                      </a:r>
                      <a:r>
                        <a:rPr dirty="0" sz="11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RF08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248920">
                        <a:lnSpc>
                          <a:spcPct val="1091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consultar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generadas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por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REGOVA,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identificando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góndola,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estante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o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región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requiere</a:t>
                      </a:r>
                      <a:r>
                        <a:rPr dirty="0" sz="11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atención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 su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nivel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estimado.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2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59385">
                        <a:lnSpc>
                          <a:spcPct val="1109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Actualizar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estado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alerta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Reponedor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RF08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300355">
                        <a:lnSpc>
                          <a:spcPct val="1109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actualizar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alerta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operacional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1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indicar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ha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sido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atendida,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diferenciándose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aquellas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permanecen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pendientes.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4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59385">
                        <a:lnSpc>
                          <a:spcPct val="1109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Consultar</a:t>
                      </a:r>
                      <a:r>
                        <a:rPr dirty="0" sz="11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panorama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general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góndolas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Supervisor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RF09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806450">
                        <a:lnSpc>
                          <a:spcPct val="1109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 consultar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manera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consolidada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góndolas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analizadas,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identificando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aquellas</a:t>
                      </a:r>
                      <a:r>
                        <a:rPr dirty="0" sz="11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contienen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requieren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atención</a:t>
                      </a:r>
                      <a:r>
                        <a:rPr dirty="0" sz="11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revisión.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6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CU08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146685">
                        <a:lnSpc>
                          <a:spcPct val="11110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Revisar</a:t>
                      </a:r>
                      <a:r>
                        <a:rPr dirty="0" sz="11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resultado</a:t>
                      </a:r>
                      <a:r>
                        <a:rPr dirty="0" sz="11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análisis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Supervisor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RF10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 marR="230504">
                        <a:lnSpc>
                          <a:spcPct val="111100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Permite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revisar</a:t>
                      </a:r>
                      <a:r>
                        <a:rPr dirty="0" sz="11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resultados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clasificados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como</a:t>
                      </a:r>
                      <a:r>
                        <a:rPr dirty="0" sz="11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Revisión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requerida,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consultando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imagen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analizada,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 región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involucrada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1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estimación de</a:t>
                      </a:r>
                      <a:r>
                        <a:rPr dirty="0" sz="11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disponibilidad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generada por</a:t>
                      </a: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REGOVA.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2334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20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588" y="984250"/>
            <a:ext cx="2348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570" algn="l"/>
              </a:tabLst>
            </a:pPr>
            <a:r>
              <a:rPr dirty="0" sz="1200" spc="-25" b="1">
                <a:latin typeface="Arial"/>
                <a:cs typeface="Arial"/>
              </a:rPr>
              <a:t>9.</a:t>
            </a:r>
            <a:r>
              <a:rPr dirty="0" sz="1200" b="1">
                <a:latin typeface="Arial"/>
                <a:cs typeface="Arial"/>
              </a:rPr>
              <a:t>	Diagrama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Casos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Uso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623692"/>
            <a:ext cx="5730875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3411"/>
            <a:ext cx="8891905" cy="100647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90"/>
              </a:spcBef>
            </a:pPr>
            <a:r>
              <a:rPr dirty="0" sz="1100" spc="-25">
                <a:latin typeface="Microsoft Sans Serif"/>
                <a:cs typeface="Microsoft Sans Serif"/>
              </a:rPr>
              <a:t>21</a:t>
            </a:r>
            <a:endParaRPr sz="1100">
              <a:latin typeface="Microsoft Sans Serif"/>
              <a:cs typeface="Microsoft Sans Serif"/>
            </a:endParaRPr>
          </a:p>
          <a:p>
            <a:pPr marL="2794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1200" spc="-25" b="1">
                <a:latin typeface="Arial"/>
                <a:cs typeface="Arial"/>
              </a:rPr>
              <a:t>10.</a:t>
            </a:r>
            <a:r>
              <a:rPr dirty="0" sz="1200" b="1">
                <a:latin typeface="Arial"/>
                <a:cs typeface="Arial"/>
              </a:rPr>
              <a:t>	Requerimientos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funcionales</a:t>
            </a:r>
            <a:endParaRPr sz="1200">
              <a:latin typeface="Arial"/>
              <a:cs typeface="Arial"/>
            </a:endParaRPr>
          </a:p>
          <a:p>
            <a:pPr algn="just" marL="12700" marR="163830">
              <a:lnSpc>
                <a:spcPct val="110000"/>
              </a:lnSpc>
              <a:spcBef>
                <a:spcPts val="25"/>
              </a:spcBef>
            </a:pPr>
            <a:r>
              <a:rPr dirty="0" sz="1200">
                <a:latin typeface="Microsoft Sans Serif"/>
                <a:cs typeface="Microsoft Sans Serif"/>
              </a:rPr>
              <a:t>Los</a:t>
            </a:r>
            <a:r>
              <a:rPr dirty="0" sz="1200" spc="-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requerimientos</a:t>
            </a:r>
            <a:r>
              <a:rPr dirty="0" sz="1200" spc="-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no</a:t>
            </a:r>
            <a:r>
              <a:rPr dirty="0" sz="1200" spc="-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funcionales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</a:t>
            </a:r>
            <a:r>
              <a:rPr dirty="0" sz="1200" spc="-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REGOVA</a:t>
            </a:r>
            <a:r>
              <a:rPr dirty="0" sz="1200" spc="-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establecen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las</a:t>
            </a:r>
            <a:r>
              <a:rPr dirty="0" sz="1200" spc="-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condiciones</a:t>
            </a:r>
            <a:r>
              <a:rPr dirty="0" sz="1200" spc="-1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</a:t>
            </a:r>
            <a:r>
              <a:rPr dirty="0" sz="1200" spc="-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calidad</a:t>
            </a:r>
            <a:r>
              <a:rPr dirty="0" sz="1200" spc="-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que</a:t>
            </a:r>
            <a:r>
              <a:rPr dirty="0" sz="1200" spc="-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deberá</a:t>
            </a:r>
            <a:r>
              <a:rPr dirty="0" sz="1200" spc="-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considerar</a:t>
            </a:r>
            <a:r>
              <a:rPr dirty="0" sz="1200" spc="-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la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solución</a:t>
            </a:r>
            <a:r>
              <a:rPr dirty="0" sz="1200" spc="-10">
                <a:latin typeface="Microsoft Sans Serif"/>
                <a:cs typeface="Microsoft Sans Serif"/>
              </a:rPr>
              <a:t> durante </a:t>
            </a:r>
            <a:r>
              <a:rPr dirty="0" sz="1200">
                <a:latin typeface="Microsoft Sans Serif"/>
                <a:cs typeface="Microsoft Sans Serif"/>
              </a:rPr>
              <a:t>su</a:t>
            </a:r>
            <a:r>
              <a:rPr dirty="0" sz="1200" spc="-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desarrollo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y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operación.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Estos</a:t>
            </a:r>
            <a:r>
              <a:rPr dirty="0" sz="1200" spc="-10">
                <a:latin typeface="Microsoft Sans Serif"/>
                <a:cs typeface="Microsoft Sans Serif"/>
              </a:rPr>
              <a:t> requerimientos </a:t>
            </a:r>
            <a:r>
              <a:rPr dirty="0" sz="1200">
                <a:latin typeface="Microsoft Sans Serif"/>
                <a:cs typeface="Microsoft Sans Serif"/>
              </a:rPr>
              <a:t>complementan</a:t>
            </a:r>
            <a:r>
              <a:rPr dirty="0" sz="1200" spc="-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las</a:t>
            </a:r>
            <a:r>
              <a:rPr dirty="0" sz="1200" spc="-10">
                <a:latin typeface="Microsoft Sans Serif"/>
                <a:cs typeface="Microsoft Sans Serif"/>
              </a:rPr>
              <a:t> funcionalidades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definidas</a:t>
            </a:r>
            <a:r>
              <a:rPr dirty="0" sz="1200" spc="-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previamente y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consideran</a:t>
            </a:r>
            <a:r>
              <a:rPr dirty="0" sz="1200" spc="-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aspectos </a:t>
            </a:r>
            <a:r>
              <a:rPr dirty="0" sz="1200">
                <a:latin typeface="Microsoft Sans Serif"/>
                <a:cs typeface="Microsoft Sans Serif"/>
              </a:rPr>
              <a:t>relacionados</a:t>
            </a:r>
            <a:r>
              <a:rPr dirty="0" sz="1200" spc="-4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con</a:t>
            </a:r>
            <a:r>
              <a:rPr dirty="0" sz="1200" spc="-4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eficiencia,</a:t>
            </a:r>
            <a:r>
              <a:rPr dirty="0" sz="1200" spc="-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disponibilidad,</a:t>
            </a:r>
            <a:r>
              <a:rPr dirty="0" sz="1200" spc="-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desarrollo,</a:t>
            </a:r>
            <a:r>
              <a:rPr dirty="0" sz="1200" spc="-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seguridad</a:t>
            </a:r>
            <a:r>
              <a:rPr dirty="0" sz="1200" spc="-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y</a:t>
            </a:r>
            <a:r>
              <a:rPr dirty="0" sz="1200" spc="-3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usabilidad.</a:t>
            </a:r>
            <a:endParaRPr sz="12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2231" y="2222880"/>
          <a:ext cx="10171430" cy="3782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/>
                <a:gridCol w="1228089"/>
                <a:gridCol w="1609090"/>
                <a:gridCol w="6450330"/>
              </a:tblGrid>
              <a:tr h="628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Categoría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6090" marR="153670" indent="-311150">
                        <a:lnSpc>
                          <a:spcPct val="110200"/>
                        </a:lnSpc>
                        <a:spcBef>
                          <a:spcPts val="28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Requerimiento</a:t>
                      </a:r>
                      <a:r>
                        <a:rPr dirty="0" sz="12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no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funcional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Descripción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Eficiencia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37210">
                        <a:lnSpc>
                          <a:spcPct val="1101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Tiempo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procesamiento medible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02870">
                        <a:lnSpc>
                          <a:spcPct val="1101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 sistema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permitir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medir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registrar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tiempo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empleado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procesamiento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cada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imagen,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propósito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evaluar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desempeño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REGOVA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durante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pruebas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del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prototipo.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Eficiencia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18135">
                        <a:lnSpc>
                          <a:spcPct val="110100"/>
                        </a:lnSpc>
                        <a:spcBef>
                          <a:spcPts val="310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Procesamiento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independiente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por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imagen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7843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procesamiento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imagen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requerir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volver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procesar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imágenes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analizadas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previamente,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permitiendo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ejecutar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nuevos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análisis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manera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independiente.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Disponibilidad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94030">
                        <a:lnSpc>
                          <a:spcPct val="110200"/>
                        </a:lnSpc>
                        <a:spcBef>
                          <a:spcPts val="309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Persistencia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configuración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2240">
                        <a:lnSpc>
                          <a:spcPct val="1101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estructura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góndolas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criterios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clasificación configurados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deberán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mantenerse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disponibles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entre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ejecuciones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sistema,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evitando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necesidad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volver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a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configurarlos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cada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análisis.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Disponibilidad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14629">
                        <a:lnSpc>
                          <a:spcPct val="111700"/>
                        </a:lnSpc>
                        <a:spcBef>
                          <a:spcPts val="28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Manejo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fallos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procesamiento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5420">
                        <a:lnSpc>
                          <a:spcPct val="110900"/>
                        </a:lnSpc>
                        <a:spcBef>
                          <a:spcPts val="30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Ante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imagen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pueda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ser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procesada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correctamente,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sistema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informar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la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situación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sin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generar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un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resultado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operacional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válido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partir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información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incompleta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o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errónea.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9581" y="804418"/>
            <a:ext cx="1841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22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2231" y="1012190"/>
          <a:ext cx="10171430" cy="4220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/>
                <a:gridCol w="1228089"/>
                <a:gridCol w="1609090"/>
                <a:gridCol w="6450330"/>
              </a:tblGrid>
              <a:tr h="90233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Desarrollo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85140">
                        <a:lnSpc>
                          <a:spcPct val="110000"/>
                        </a:lnSpc>
                        <a:spcBef>
                          <a:spcPts val="3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Modularidad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componentes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6839">
                        <a:lnSpc>
                          <a:spcPct val="110000"/>
                        </a:lnSpc>
                        <a:spcBef>
                          <a:spcPts val="315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solución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mantener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separados,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nivel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lógico,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componentes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asociados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a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configuración,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procesamiento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visual,</a:t>
                      </a:r>
                      <a:r>
                        <a:rPr dirty="0" sz="1200" spc="-6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estimación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disponibilidad,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clasificación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operacional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y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visualización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resultados,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facilitando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su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mantenimiento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evolución.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Desarrollo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25120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Independencia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criterios operacionales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540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umbrales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utilizados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clasificar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estados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operacionales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deberán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mantenerse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desacoplados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modelo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visión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computacional,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permitiendo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modificarlos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sin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necesidad</a:t>
                      </a:r>
                      <a:r>
                        <a:rPr dirty="0" sz="1200" spc="-4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reentrenar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el</a:t>
                      </a:r>
                      <a:r>
                        <a:rPr dirty="0" sz="12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modelo.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358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Seguridad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3779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Control</a:t>
                      </a:r>
                      <a:r>
                        <a:rPr dirty="0" sz="12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funciones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configuración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744220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funciones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destinadas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modificar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estructura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góndolas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criterios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clasificación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estar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disponibles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únicamente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para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usuarios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permisos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administración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sistema.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Seguridad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46430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Integridad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resultados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7716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resultados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generados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por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un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análisis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deberán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conservar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su asociación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góndola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y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regiones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correspondientes,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evitando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que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sean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atribuidos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una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configuración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diferente.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Usabilidad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52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1653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Identificación</a:t>
                      </a:r>
                      <a:r>
                        <a:rPr dirty="0" sz="1200" spc="-5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visual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estados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40715">
                        <a:lnSpc>
                          <a:spcPct val="1100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interfaz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permitir</a:t>
                      </a:r>
                      <a:r>
                        <a:rPr dirty="0" sz="1200" spc="-4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distinguir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claramente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los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diferentes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estados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operacionales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definidos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por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REGOVA,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tales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como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Normal,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Atención,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Crítico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Revisión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requerida.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RNF10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Usabilidad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18465">
                        <a:lnSpc>
                          <a:spcPct val="110100"/>
                        </a:lnSpc>
                        <a:spcBef>
                          <a:spcPts val="310"/>
                        </a:spcBef>
                      </a:pP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Localización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comprensible</a:t>
                      </a:r>
                      <a:r>
                        <a:rPr dirty="0" sz="1200" spc="-5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de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alertas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92710">
                        <a:lnSpc>
                          <a:spcPct val="110100"/>
                        </a:lnSpc>
                        <a:spcBef>
                          <a:spcPts val="310"/>
                        </a:spcBef>
                      </a:pP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Las</a:t>
                      </a:r>
                      <a:r>
                        <a:rPr dirty="0" sz="1200" spc="-1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alertas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deberán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indicar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manera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comprensible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góndola,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estante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región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asociada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al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resultado,</a:t>
                      </a:r>
                      <a:r>
                        <a:rPr dirty="0" sz="12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junto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con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su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estado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disponibilidad</a:t>
                      </a:r>
                      <a:r>
                        <a:rPr dirty="0" sz="12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estimada,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facilitando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la</a:t>
                      </a:r>
                      <a:r>
                        <a:rPr dirty="0" sz="1200" spc="-3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identificación</a:t>
                      </a:r>
                      <a:r>
                        <a:rPr dirty="0" sz="1200" spc="-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del</a:t>
                      </a:r>
                      <a:r>
                        <a:rPr dirty="0" sz="1200" spc="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área </a:t>
                      </a:r>
                      <a:r>
                        <a:rPr dirty="0" sz="1200">
                          <a:latin typeface="Microsoft Sans Serif"/>
                          <a:cs typeface="Microsoft Sans Serif"/>
                        </a:rPr>
                        <a:t>que requiere</a:t>
                      </a:r>
                      <a:r>
                        <a:rPr dirty="0" sz="1200" spc="-2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200" spc="-10">
                          <a:latin typeface="Microsoft Sans Serif"/>
                          <a:cs typeface="Microsoft Sans Serif"/>
                        </a:rPr>
                        <a:t>atención.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04418"/>
            <a:ext cx="5764530" cy="7971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Microsoft Sans Serif"/>
                <a:cs typeface="Microsoft Sans Serif"/>
              </a:rPr>
              <a:t>23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27940">
              <a:lnSpc>
                <a:spcPct val="100000"/>
              </a:lnSpc>
              <a:tabLst>
                <a:tab pos="469900" algn="l"/>
              </a:tabLst>
            </a:pPr>
            <a:r>
              <a:rPr dirty="0" sz="1200" spc="-25" b="1">
                <a:latin typeface="Arial"/>
                <a:cs typeface="Arial"/>
              </a:rPr>
              <a:t>11.</a:t>
            </a:r>
            <a:r>
              <a:rPr dirty="0" sz="1200" b="1">
                <a:latin typeface="Arial"/>
                <a:cs typeface="Arial"/>
              </a:rPr>
              <a:t>	Conclusiones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análisis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negocio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Arial"/>
              <a:cs typeface="Arial"/>
            </a:endParaRPr>
          </a:p>
          <a:p>
            <a:pPr marL="12700" marR="73025">
              <a:lnSpc>
                <a:spcPct val="110500"/>
              </a:lnSpc>
            </a:pP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realizado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permitió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identificar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automatizado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góndolas </a:t>
            </a:r>
            <a:r>
              <a:rPr dirty="0" sz="1100">
                <a:latin typeface="Microsoft Sans Serif"/>
                <a:cs typeface="Microsoft Sans Serif"/>
              </a:rPr>
              <a:t>mediante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visión </a:t>
            </a:r>
            <a:r>
              <a:rPr dirty="0" sz="1100" spc="-10">
                <a:latin typeface="Microsoft Sans Serif"/>
                <a:cs typeface="Microsoft Sans Serif"/>
              </a:rPr>
              <a:t>computacional </a:t>
            </a:r>
            <a:r>
              <a:rPr dirty="0" sz="1100">
                <a:latin typeface="Microsoft Sans Serif"/>
                <a:cs typeface="Microsoft Sans Serif"/>
              </a:rPr>
              <a:t>constituye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 problema abordado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tanto por</a:t>
            </a:r>
            <a:r>
              <a:rPr dirty="0" sz="1100" spc="-10">
                <a:latin typeface="Microsoft Sans Serif"/>
                <a:cs typeface="Microsoft Sans Serif"/>
              </a:rPr>
              <a:t> soluciones </a:t>
            </a:r>
            <a:r>
              <a:rPr dirty="0" sz="1100">
                <a:latin typeface="Microsoft Sans Serif"/>
                <a:cs typeface="Microsoft Sans Serif"/>
              </a:rPr>
              <a:t>comerciales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0">
                <a:latin typeface="Microsoft Sans Serif"/>
                <a:cs typeface="Microsoft Sans Serif"/>
              </a:rPr>
              <a:t> investigaciones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recientes.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alternativas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revisadas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presentan </a:t>
            </a:r>
            <a:r>
              <a:rPr dirty="0" sz="1100">
                <a:latin typeface="Microsoft Sans Serif"/>
                <a:cs typeface="Microsoft Sans Serif"/>
              </a:rPr>
              <a:t>distintas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estrategias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vacíos, quiebres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stock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disminuciones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la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utilizando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diferentes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mecanismos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captura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procesamiento.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49530">
              <a:lnSpc>
                <a:spcPct val="110000"/>
              </a:lnSpc>
              <a:spcBef>
                <a:spcPts val="5"/>
              </a:spcBef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homologación </a:t>
            </a:r>
            <a:r>
              <a:rPr dirty="0" sz="1100">
                <a:latin typeface="Microsoft Sans Serif"/>
                <a:cs typeface="Microsoft Sans Serif"/>
              </a:rPr>
              <a:t>permitió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 vacíos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encuentra </a:t>
            </a:r>
            <a:r>
              <a:rPr dirty="0" sz="1100">
                <a:latin typeface="Microsoft Sans Serif"/>
                <a:cs typeface="Microsoft Sans Serif"/>
              </a:rPr>
              <a:t>ampliamente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presente en las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soluciones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estudiadas.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embargo,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cuantificación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explícita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asociación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</a:t>
            </a:r>
            <a:r>
              <a:rPr dirty="0" sz="1100" spc="-10">
                <a:latin typeface="Microsoft Sans Serif"/>
                <a:cs typeface="Microsoft Sans Serif"/>
              </a:rPr>
              <a:t> ubicaciones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específicas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dentro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una </a:t>
            </a:r>
            <a:r>
              <a:rPr dirty="0" sz="1100">
                <a:latin typeface="Microsoft Sans Serif"/>
                <a:cs typeface="Microsoft Sans Serif"/>
              </a:rPr>
              <a:t>góndola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encuentra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especificada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pública</a:t>
            </a:r>
            <a:r>
              <a:rPr dirty="0" sz="1100" spc="5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revisada.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aspecto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relevante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frente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planteado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Walmart, donde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se </a:t>
            </a:r>
            <a:r>
              <a:rPr dirty="0" sz="1100">
                <a:latin typeface="Microsoft Sans Serif"/>
                <a:cs typeface="Microsoft Sans Serif"/>
              </a:rPr>
              <a:t>busca determinar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cuánto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 libre existe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obtener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información </a:t>
            </a:r>
            <a:r>
              <a:rPr dirty="0" sz="1100">
                <a:latin typeface="Microsoft Sans Serif"/>
                <a:cs typeface="Microsoft Sans Serif"/>
              </a:rPr>
              <a:t>diferenciada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nivel.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43180">
              <a:lnSpc>
                <a:spcPct val="110600"/>
              </a:lnSpc>
            </a:pP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antecedentes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definió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b="1">
                <a:latin typeface="Arial"/>
                <a:cs typeface="Arial"/>
              </a:rPr>
              <a:t>REGOVA</a:t>
            </a:r>
            <a:r>
              <a:rPr dirty="0" sz="1100">
                <a:latin typeface="Microsoft Sans Serif"/>
                <a:cs typeface="Microsoft Sans Serif"/>
              </a:rPr>
              <a:t>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visión </a:t>
            </a:r>
            <a:r>
              <a:rPr dirty="0" sz="1100" spc="-10">
                <a:latin typeface="Microsoft Sans Serif"/>
                <a:cs typeface="Microsoft Sans Serif"/>
              </a:rPr>
              <a:t>computacional </a:t>
            </a:r>
            <a:r>
              <a:rPr dirty="0" sz="1100">
                <a:latin typeface="Microsoft Sans Serif"/>
                <a:cs typeface="Microsoft Sans Serif"/>
              </a:rPr>
              <a:t>orientada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 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solución considera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una </a:t>
            </a:r>
            <a:r>
              <a:rPr dirty="0" sz="1100">
                <a:latin typeface="Microsoft Sans Serif"/>
                <a:cs typeface="Microsoft Sans Serif"/>
              </a:rPr>
              <a:t>estructura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configurable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compuesta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por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góndolas,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estantes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regiones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exhibición,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sobre</a:t>
            </a:r>
            <a:r>
              <a:rPr dirty="0" sz="1100" spc="-25">
                <a:latin typeface="Microsoft Sans Serif"/>
                <a:cs typeface="Microsoft Sans Serif"/>
              </a:rPr>
              <a:t> la </a:t>
            </a:r>
            <a:r>
              <a:rPr dirty="0" sz="1100">
                <a:latin typeface="Microsoft Sans Serif"/>
                <a:cs typeface="Microsoft Sans Serif"/>
              </a:rPr>
              <a:t>cual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procesan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imágenes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detectar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localizar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espacios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ausencia,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estimar </a:t>
            </a:r>
            <a:r>
              <a:rPr dirty="0" sz="1100">
                <a:latin typeface="Microsoft Sans Serif"/>
                <a:cs typeface="Microsoft Sans Serif"/>
              </a:rPr>
              <a:t>cuantitativamente su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transformar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obtenidos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estados </a:t>
            </a:r>
            <a:r>
              <a:rPr dirty="0" sz="1100">
                <a:latin typeface="Microsoft Sans Serif"/>
                <a:cs typeface="Microsoft Sans Serif"/>
              </a:rPr>
              <a:t>operacionales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configurables.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27940">
              <a:lnSpc>
                <a:spcPct val="110200"/>
              </a:lnSpc>
            </a:pP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 mecanismos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visualización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generación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que </a:t>
            </a:r>
            <a:r>
              <a:rPr dirty="0" sz="1100">
                <a:latin typeface="Microsoft Sans Serif"/>
                <a:cs typeface="Microsoft Sans Serif"/>
              </a:rPr>
              <a:t>permiten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comunicar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análisis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usuarios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involucrados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proceso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reposición.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definición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roles</a:t>
            </a:r>
            <a:r>
              <a:rPr dirty="0" sz="1100" spc="-10">
                <a:latin typeface="Microsoft Sans Serif"/>
                <a:cs typeface="Microsoft Sans Serif"/>
              </a:rPr>
              <a:t> diferenciados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 separar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configuración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sistema, </a:t>
            </a:r>
            <a:r>
              <a:rPr dirty="0" sz="1100">
                <a:latin typeface="Microsoft Sans Serif"/>
                <a:cs typeface="Microsoft Sans Serif"/>
              </a:rPr>
              <a:t>la consulta y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atención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alertas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funciones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supervisión,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incluyendo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 revisión</a:t>
            </a:r>
            <a:r>
              <a:rPr dirty="0" sz="1100" spc="-25">
                <a:latin typeface="Microsoft Sans Serif"/>
                <a:cs typeface="Microsoft Sans Serif"/>
              </a:rPr>
              <a:t> de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requieran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validación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consulta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consolidada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estado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góndolas analizadas.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17145">
              <a:lnSpc>
                <a:spcPct val="110600"/>
              </a:lnSpc>
            </a:pP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manera,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 spc="-10" b="1">
                <a:latin typeface="Arial"/>
                <a:cs typeface="Arial"/>
              </a:rPr>
              <a:t>REGOVA</a:t>
            </a:r>
            <a:r>
              <a:rPr dirty="0" sz="1100" spc="-60" b="1">
                <a:latin typeface="Arial"/>
                <a:cs typeface="Arial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plantea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una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herramienta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apoyo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toma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de </a:t>
            </a:r>
            <a:r>
              <a:rPr dirty="0" sz="1100">
                <a:latin typeface="Microsoft Sans Serif"/>
                <a:cs typeface="Microsoft Sans Serif"/>
              </a:rPr>
              <a:t>decisiones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reposición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basada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 visual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observable,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 sustituir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10">
                <a:latin typeface="Microsoft Sans Serif"/>
                <a:cs typeface="Microsoft Sans Serif"/>
              </a:rPr>
              <a:t> sistemas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inventario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ni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determinar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disponibilidad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productos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bodega.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separación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entre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el </a:t>
            </a:r>
            <a:r>
              <a:rPr dirty="0" sz="1100">
                <a:latin typeface="Microsoft Sans Serif"/>
                <a:cs typeface="Microsoft Sans Serif"/>
              </a:rPr>
              <a:t>procesamiento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visual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criterios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 </a:t>
            </a:r>
            <a:r>
              <a:rPr dirty="0" sz="1100" spc="-10">
                <a:latin typeface="Microsoft Sans Serif"/>
                <a:cs typeface="Microsoft Sans Serif"/>
              </a:rPr>
              <a:t>interpretación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operacional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permite,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además,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modificar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umbrales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utilizados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clasificar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resultados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alterar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modelo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visión computacional.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 marR="55880">
              <a:lnSpc>
                <a:spcPct val="109700"/>
              </a:lnSpc>
            </a:pPr>
            <a:r>
              <a:rPr dirty="0" sz="1100">
                <a:latin typeface="Microsoft Sans Serif"/>
                <a:cs typeface="Microsoft Sans Serif"/>
              </a:rPr>
              <a:t>Finalmente,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propuesta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mantiene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desarrollo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concentrado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capacidades </a:t>
            </a:r>
            <a:r>
              <a:rPr dirty="0" sz="1100">
                <a:latin typeface="Microsoft Sans Serif"/>
                <a:cs typeface="Microsoft Sans Serif"/>
              </a:rPr>
              <a:t>directamente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relacionadas</a:t>
            </a:r>
            <a:r>
              <a:rPr dirty="0" sz="1100">
                <a:latin typeface="Microsoft Sans Serif"/>
                <a:cs typeface="Microsoft Sans Serif"/>
              </a:rPr>
              <a:t> con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desafío,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dejando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posibles líneas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evolución</a:t>
            </a:r>
            <a:r>
              <a:rPr dirty="0" sz="1100" spc="5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futura </a:t>
            </a:r>
            <a:r>
              <a:rPr dirty="0" sz="1100">
                <a:latin typeface="Microsoft Sans Serif"/>
                <a:cs typeface="Microsoft Sans Serif"/>
              </a:rPr>
              <a:t>la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incorporación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información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histórica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ventas,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estimación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demanda,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variables </a:t>
            </a:r>
            <a:r>
              <a:rPr dirty="0" sz="1100">
                <a:latin typeface="Microsoft Sans Serif"/>
                <a:cs typeface="Microsoft Sans Serif"/>
              </a:rPr>
              <a:t>externas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y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mecanismos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aprendizaje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partir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del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comportamiento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observado.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2026-09-11T23:03:44Z</dcterms:created>
  <dcterms:modified xsi:type="dcterms:W3CDTF">2026-09-11T23:03:44Z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2026-09-11T00:00:00Z</vt:filetime>
  </property>
  <property fmtid="{D5CDD505-2E9C-101B-9397-08002B2CF9AE}" pid="6" name="Producer">
    <vt:lpwstr>www.ilovepdf.com</vt:lpwstr>
  </property>
</Properties>
</file>